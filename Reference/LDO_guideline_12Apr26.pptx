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73" r:id="rId5"/>
    <p:sldId id="262" r:id="rId6"/>
    <p:sldId id="263" r:id="rId7"/>
    <p:sldId id="268" r:id="rId8"/>
    <p:sldId id="261" r:id="rId9"/>
    <p:sldId id="274" r:id="rId10"/>
    <p:sldId id="279" r:id="rId11"/>
    <p:sldId id="267" r:id="rId12"/>
    <p:sldId id="269" r:id="rId13"/>
    <p:sldId id="271" r:id="rId14"/>
    <p:sldId id="275" r:id="rId15"/>
    <p:sldId id="270" r:id="rId16"/>
    <p:sldId id="272" r:id="rId17"/>
    <p:sldId id="277" r:id="rId18"/>
    <p:sldId id="276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5E8489-976B-4C0E-BC0E-1125F29A083A}">
          <p14:sldIdLst>
            <p14:sldId id="257"/>
            <p14:sldId id="256"/>
          </p14:sldIdLst>
        </p14:section>
        <p14:section name="bias" id="{12D1EE5C-6A00-49FE-BB4F-023CCD332803}">
          <p14:sldIdLst>
            <p14:sldId id="260"/>
            <p14:sldId id="273"/>
            <p14:sldId id="262"/>
            <p14:sldId id="263"/>
            <p14:sldId id="268"/>
          </p14:sldIdLst>
        </p14:section>
        <p14:section name="core" id="{DFA2C0B5-474F-4A72-81AF-D5CBD3BB26DC}">
          <p14:sldIdLst>
            <p14:sldId id="261"/>
            <p14:sldId id="274"/>
            <p14:sldId id="279"/>
            <p14:sldId id="267"/>
            <p14:sldId id="269"/>
            <p14:sldId id="271"/>
            <p14:sldId id="275"/>
            <p14:sldId id="270"/>
            <p14:sldId id="272"/>
            <p14:sldId id="277"/>
            <p14:sldId id="276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2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7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2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75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5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3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65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85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0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7A630-8B8E-462E-8BFC-4A975B59BA7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AC8D-B567-407A-9F62-9C32562FF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52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7674214"/>
                  </p:ext>
                </p:extLst>
              </p:nvPr>
            </p:nvGraphicFramePr>
            <p:xfrm>
              <a:off x="1628475" y="918613"/>
              <a:ext cx="8893834" cy="2973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3909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4088921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1846053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1224951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1702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Description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Specification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1702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Input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.2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1702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Output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17983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𝑟𝑒𝑓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Reference voltage from Bandgap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812124"/>
                      </a:ext>
                    </a:extLst>
                  </a:tr>
                  <a:tr h="18109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𝑉𝑆𝑆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Min supply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28949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𝑙𝑜𝑎𝑑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Resistor loading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𝟐𝟎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@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h𝑖𝑔h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𝑙𝑜𝑎𝑑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𝟏𝟔𝟎𝟎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@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𝑙𝑜𝑤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𝑙𝑜𝑎𝑑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1400" b="0" i="1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1702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Temp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Simulation temperature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𝟐𝟓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𝑑𝑒𝑔𝑟𝑒𝑒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28131271"/>
                      </a:ext>
                    </a:extLst>
                  </a:tr>
                  <a:tr h="1702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Corner,</a:t>
                          </a:r>
                          <a:r>
                            <a:rPr lang="en-US" sz="1400" baseline="0" dirty="0" smtClean="0"/>
                            <a:t> Tech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Typical, </a:t>
                          </a:r>
                          <a:r>
                            <a:rPr lang="en-US" sz="1400" b="1" dirty="0" err="1" smtClean="0"/>
                            <a:t>tsmc</a:t>
                          </a:r>
                          <a:r>
                            <a:rPr lang="en-US" sz="1400" b="1" dirty="0" smtClean="0"/>
                            <a:t> 65nm</a:t>
                          </a:r>
                          <a:endParaRPr lang="en-US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4314863"/>
                      </a:ext>
                    </a:extLst>
                  </a:tr>
                  <a:tr h="1702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Device</a:t>
                          </a:r>
                          <a:r>
                            <a:rPr lang="en-US" sz="1400" baseline="0" dirty="0" smtClean="0"/>
                            <a:t> type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err="1" smtClean="0"/>
                            <a:t>pch</a:t>
                          </a:r>
                          <a:r>
                            <a:rPr lang="en-US" sz="1400" b="1" dirty="0" smtClean="0"/>
                            <a:t>/</a:t>
                          </a:r>
                          <a:r>
                            <a:rPr lang="en-US" sz="1400" b="1" dirty="0" err="1" smtClean="0"/>
                            <a:t>nch_lvt</a:t>
                          </a:r>
                          <a:endParaRPr lang="en-US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8702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7674214"/>
                  </p:ext>
                </p:extLst>
              </p:nvPr>
            </p:nvGraphicFramePr>
            <p:xfrm>
              <a:off x="1628475" y="918613"/>
              <a:ext cx="8893834" cy="29736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3909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4088921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1846053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1224951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Description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Specification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1" t="-102000" r="-413684" b="-7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Input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102000" r="-67657" b="-7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102000" r="-1990" b="-79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1" t="-202000" r="-413684" b="-6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Output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202000" r="-67657" b="-6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202000" r="-1990" b="-69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321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1" t="-284906" r="-413684" b="-558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Reference voltage from Bandgap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284906" r="-67657" b="-558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284906" r="-1990" b="-558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81212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1" t="-408000" r="-413684" b="-4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Min supply voltage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408000" r="-67657" b="-4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408000" r="-1990" b="-4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1" t="-295349" r="-413684" b="-186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Resistor loading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295349" r="-67657" b="-186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295349" r="-1990" b="-1860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Temp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Simulation temperature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5842" t="-680000" r="-6765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26866" t="-680000" r="-1990" b="-2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813127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Corner,</a:t>
                          </a:r>
                          <a:r>
                            <a:rPr lang="en-US" sz="1400" baseline="0" dirty="0" smtClean="0"/>
                            <a:t> Tech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/>
                            <a:t>Typical, </a:t>
                          </a:r>
                          <a:r>
                            <a:rPr lang="en-US" sz="1400" b="1" dirty="0" err="1" smtClean="0"/>
                            <a:t>tsmc</a:t>
                          </a:r>
                          <a:r>
                            <a:rPr lang="en-US" sz="1400" b="1" dirty="0" smtClean="0"/>
                            <a:t> 65nm</a:t>
                          </a:r>
                          <a:endParaRPr lang="en-US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431486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Device</a:t>
                          </a:r>
                          <a:r>
                            <a:rPr lang="en-US" sz="1400" baseline="0" dirty="0" smtClean="0"/>
                            <a:t> type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err="1" smtClean="0"/>
                            <a:t>pch</a:t>
                          </a:r>
                          <a:r>
                            <a:rPr lang="en-US" sz="1400" b="1" dirty="0" smtClean="0"/>
                            <a:t>/</a:t>
                          </a:r>
                          <a:r>
                            <a:rPr lang="en-US" sz="1400" b="1" dirty="0" err="1" smtClean="0"/>
                            <a:t>nch_lvt</a:t>
                          </a:r>
                          <a:endParaRPr lang="en-US" sz="1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8702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3206779" y="121308"/>
            <a:ext cx="5737226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SIMULATION CONDITION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5756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9421695"/>
                  </p:ext>
                </p:extLst>
              </p:nvPr>
            </p:nvGraphicFramePr>
            <p:xfrm>
              <a:off x="1055297" y="885086"/>
              <a:ext cx="10243390" cy="56824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556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733909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3811438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2548028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800459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809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Overdrive voltage (</a:t>
                          </a:r>
                          <a:r>
                            <a:rPr lang="en-US" dirty="0" err="1" smtClean="0"/>
                            <a:t>Vgs</a:t>
                          </a:r>
                          <a:r>
                            <a:rPr lang="en-US" dirty="0" smtClean="0"/>
                            <a:t> – Vth)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≥−100</m:t>
                              </m:r>
                            </m:oMath>
                          </a14:m>
                          <a:r>
                            <a:rPr lang="en-US" dirty="0" smtClean="0"/>
                            <a:t> for all </a:t>
                          </a:r>
                          <a:r>
                            <a:rPr lang="en-US" dirty="0" err="1" smtClean="0"/>
                            <a:t>mosfet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380907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𝑚𝑎𝑟𝑔𝑖𝑛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Margin</a:t>
                          </a:r>
                          <a:r>
                            <a:rPr lang="en-US" baseline="0" dirty="0" smtClean="0"/>
                            <a:t> voltage (</a:t>
                          </a:r>
                          <a:r>
                            <a:rPr lang="en-US" baseline="0" dirty="0" err="1" smtClean="0"/>
                            <a:t>Vds-Vdsat</a:t>
                          </a:r>
                          <a:r>
                            <a:rPr lang="en-US" baseline="0" dirty="0" smtClean="0"/>
                            <a:t>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dirty="0" smtClean="0"/>
                            <a:t> for all </a:t>
                          </a:r>
                          <a:r>
                            <a:rPr lang="en-US" dirty="0" err="1" smtClean="0"/>
                            <a:t>mosfet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380907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Transient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𝑒𝑟𝑟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Output voltage error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9218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𝐿𝑁𝑅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Line regulation,</a:t>
                          </a:r>
                          <a:r>
                            <a:rPr lang="en-US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10%</m:t>
                              </m:r>
                            </m:oMath>
                          </a14:m>
                          <a:r>
                            <a:rPr lang="en-US" dirty="0" smtClean="0"/>
                            <a:t> variation of Vin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119841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𝐿𝐷𝑅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Load regulation, </a:t>
                          </a:r>
                          <a:r>
                            <a:rPr lang="en-US" dirty="0" err="1" smtClean="0"/>
                            <a:t>iload</a:t>
                          </a:r>
                          <a:r>
                            <a:rPr lang="en-US" dirty="0" smtClean="0"/>
                            <a:t> varies from max</a:t>
                          </a:r>
                          <a:r>
                            <a:rPr lang="en-US" baseline="0" dirty="0" smtClean="0"/>
                            <a:t> to min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≤40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373865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𝑈𝐺𝐵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Unity</a:t>
                          </a:r>
                          <a:r>
                            <a:rPr lang="en-US" baseline="0" dirty="0" smtClean="0"/>
                            <a:t> Gain </a:t>
                          </a:r>
                          <a:r>
                            <a:rPr lang="en-US" baseline="0" dirty="0" err="1" smtClean="0"/>
                            <a:t>Bw</a:t>
                          </a:r>
                          <a:endParaRPr 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𝑀𝐻𝑧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7386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𝐶𝐿𝐺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DC Loop Gain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Phase Margin of loop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𝑑𝑒𝑔𝑟𝑒𝑒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𝑃𝑆𝑅𝑅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Power Supply Rejected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≥50 @ 10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𝑘𝐻𝑧</m:t>
                                </m:r>
                              </m:oMath>
                            </m:oMathPara>
                          </a14:m>
                          <a:r>
                            <a:rPr lang="en-US" b="0" dirty="0" smtClean="0">
                              <a:ea typeface="Cambria Math" panose="02040503050406030204" pitchFamily="18" charset="0"/>
                            </a:rPr>
                            <a:t/>
                          </a:r>
                          <a:br>
                            <a:rPr lang="en-US" b="0" dirty="0" smtClean="0">
                              <a:ea typeface="Cambria Math" panose="020405030504060302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30 @ 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𝑀𝐻𝑧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9421695"/>
                  </p:ext>
                </p:extLst>
              </p:nvPr>
            </p:nvGraphicFramePr>
            <p:xfrm>
              <a:off x="1055297" y="885086"/>
              <a:ext cx="10243390" cy="56824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556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733909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3811438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2548028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800459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809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104762" r="-413684" b="-12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Overdrive voltage (</a:t>
                          </a:r>
                          <a:r>
                            <a:rPr lang="en-US" dirty="0" err="1" smtClean="0"/>
                            <a:t>Vgs</a:t>
                          </a:r>
                          <a:r>
                            <a:rPr lang="en-US" dirty="0" smtClean="0"/>
                            <a:t> – Vth)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104762" r="-32220" b="-12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104762" r="-3053" b="-1287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388112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201563" r="-413684" b="-11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Margin</a:t>
                          </a:r>
                          <a:r>
                            <a:rPr lang="en-US" baseline="0" dirty="0" smtClean="0"/>
                            <a:t> voltage (</a:t>
                          </a:r>
                          <a:r>
                            <a:rPr lang="en-US" baseline="0" dirty="0" err="1" smtClean="0"/>
                            <a:t>Vds-Vdsat</a:t>
                          </a:r>
                          <a:r>
                            <a:rPr lang="en-US" baseline="0" dirty="0" smtClean="0"/>
                            <a:t>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201563" r="-32220" b="-11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201563" r="-3053" b="-116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380907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Transient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311290" r="-413684" b="-1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Output voltage error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311290" r="-32220" b="-1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311290" r="-3053" b="-11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9218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167763" r="-413684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1120" t="-167763" r="-88640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167763" r="-32220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167763" r="-3053" b="-3506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119841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207653" r="-413684" b="-171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Load regulation, </a:t>
                          </a:r>
                          <a:r>
                            <a:rPr lang="en-US" dirty="0" err="1" smtClean="0"/>
                            <a:t>iload</a:t>
                          </a:r>
                          <a:r>
                            <a:rPr lang="en-US" dirty="0" smtClean="0"/>
                            <a:t> varies from max</a:t>
                          </a:r>
                          <a:r>
                            <a:rPr lang="en-US" baseline="0" dirty="0" smtClean="0"/>
                            <a:t> to min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207653" r="-32220" b="-171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207653" r="-3053" b="-171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373865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972581" r="-413684" b="-44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Unity</a:t>
                          </a:r>
                          <a:r>
                            <a:rPr lang="en-US" baseline="0" dirty="0" smtClean="0"/>
                            <a:t> Gain </a:t>
                          </a:r>
                          <a:r>
                            <a:rPr lang="en-US" baseline="0" dirty="0" err="1" smtClean="0"/>
                            <a:t>Bw</a:t>
                          </a:r>
                          <a:endParaRPr 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972581" r="-32220" b="-44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972581" r="-3053" b="-44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7386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1090164" r="-413684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DC Loop Gain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1090164" r="-32220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1090164" r="-3053" b="-3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684906" r="-413684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Phase Margin of loop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684906" r="-32220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684906" r="-3053" b="-10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895" t="-784906" r="-413684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Power Supply Rejected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167" t="-784906" r="-32220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83969" t="-784906" r="-3053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4102099" y="120050"/>
            <a:ext cx="4403726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LDO SPECIFICATION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5061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41" y="1914393"/>
            <a:ext cx="6250799" cy="47642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BIAS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1659392" y="228848"/>
            <a:ext cx="4146185" cy="14773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1.1 Should choose R1~kOhm to reduce static current as much as possible (recommend: </a:t>
            </a:r>
            <a:r>
              <a:rPr lang="en-US" dirty="0" smtClean="0">
                <a:solidFill>
                  <a:srgbClr val="FF0000"/>
                </a:solidFill>
              </a:rPr>
              <a:t>30kOhm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1.2 R0 should be chosen around ~</a:t>
            </a:r>
            <a:r>
              <a:rPr lang="en-US" dirty="0" err="1" smtClean="0"/>
              <a:t>kOhm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(1-500kOhm)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818" y="2631056"/>
            <a:ext cx="805225" cy="3019246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838199" y="1729727"/>
            <a:ext cx="938843" cy="90132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97136" y="1716950"/>
            <a:ext cx="5767702" cy="36933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2. These 2 devices must have the same dimension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).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7524" y="2610009"/>
            <a:ext cx="3277945" cy="685282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21" idx="3"/>
            <a:endCxn id="20" idx="2"/>
          </p:cNvCxnSpPr>
          <p:nvPr/>
        </p:nvCxnSpPr>
        <p:spPr>
          <a:xfrm flipV="1">
            <a:off x="6545469" y="2086282"/>
            <a:ext cx="2535518" cy="86636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68488" y="3066438"/>
            <a:ext cx="5003321" cy="646331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3. These 2 devices must be the same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), no need to be as same as (2)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3221115" y="3851849"/>
            <a:ext cx="3277945" cy="685282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26" idx="3"/>
            <a:endCxn id="25" idx="2"/>
          </p:cNvCxnSpPr>
          <p:nvPr/>
        </p:nvCxnSpPr>
        <p:spPr>
          <a:xfrm flipV="1">
            <a:off x="6499060" y="3712769"/>
            <a:ext cx="2671089" cy="481721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233689" y="4140043"/>
                <a:ext cx="3899140" cy="14853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 smtClean="0"/>
                  <a:t>4. They need to have specific ratios b/w each pair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:endParaRPr lang="en-US" dirty="0" smtClean="0"/>
              </a:p>
              <a:p>
                <a:r>
                  <a:rPr lang="en-US" dirty="0" smtClean="0"/>
                  <a:t>And k, m must be integer numbers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689" y="4140043"/>
                <a:ext cx="3899140" cy="1485343"/>
              </a:xfrm>
              <a:prstGeom prst="rect">
                <a:avLst/>
              </a:prstGeom>
              <a:blipFill>
                <a:blip r:embed="rId3"/>
                <a:stretch>
                  <a:fillRect l="-1246" t="-1619" r="-1402" b="-4453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29"/>
          <p:cNvSpPr/>
          <p:nvPr/>
        </p:nvSpPr>
        <p:spPr>
          <a:xfrm>
            <a:off x="1596473" y="5432345"/>
            <a:ext cx="4948996" cy="68528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29" idx="1"/>
          </p:cNvCxnSpPr>
          <p:nvPr/>
        </p:nvCxnSpPr>
        <p:spPr>
          <a:xfrm flipV="1">
            <a:off x="6545469" y="4882715"/>
            <a:ext cx="1688220" cy="8922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790436" y="2631056"/>
            <a:ext cx="831994" cy="1220793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0"/>
          </p:cNvCxnSpPr>
          <p:nvPr/>
        </p:nvCxnSpPr>
        <p:spPr>
          <a:xfrm flipH="1" flipV="1">
            <a:off x="1790436" y="1729727"/>
            <a:ext cx="415997" cy="90132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730308" y="6029896"/>
                <a:ext cx="3268422" cy="61901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𝑓𝑔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×0.5×120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𝑛𝑚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𝑠𝑡𝑘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×60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𝑛𝑚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𝑓𝑔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𝑠𝑡𝑘</m:t>
                          </m:r>
                        </m:den>
                      </m:f>
                    </m:oMath>
                  </m:oMathPara>
                </a14:m>
                <a:r>
                  <a:rPr lang="en-US" b="0" dirty="0" smtClean="0">
                    <a:solidFill>
                      <a:srgbClr val="FF0000"/>
                    </a:solidFill>
                  </a:rPr>
                  <a:t/>
                </a:r>
                <a:br>
                  <a:rPr lang="en-US" b="0" dirty="0" smtClean="0">
                    <a:solidFill>
                      <a:srgbClr val="FF0000"/>
                    </a:solidFill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308" y="6029896"/>
                <a:ext cx="3268422" cy="619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99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49" y="1914393"/>
            <a:ext cx="6250799" cy="47642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BIAS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1659392" y="228848"/>
            <a:ext cx="4146185" cy="147732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1.1 Should choose R1~kOhm to reduce static current as much as possible (recommend: </a:t>
            </a:r>
            <a:r>
              <a:rPr lang="en-US" dirty="0" smtClean="0">
                <a:solidFill>
                  <a:srgbClr val="FF0000"/>
                </a:solidFill>
              </a:rPr>
              <a:t>30kOhm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1.2 R0 should be chosen around ~</a:t>
            </a:r>
            <a:r>
              <a:rPr lang="en-US" dirty="0" err="1" smtClean="0"/>
              <a:t>kOhm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(1-500kOhm)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1026" y="2631056"/>
            <a:ext cx="805225" cy="3019246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838199" y="1729727"/>
            <a:ext cx="938843" cy="90132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08732" y="2610009"/>
            <a:ext cx="2941327" cy="685282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3008732" y="3851849"/>
            <a:ext cx="2941328" cy="685282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1337681" y="5432345"/>
            <a:ext cx="4948996" cy="68528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1531644" y="2631056"/>
            <a:ext cx="831994" cy="1220793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0"/>
          </p:cNvCxnSpPr>
          <p:nvPr/>
        </p:nvCxnSpPr>
        <p:spPr>
          <a:xfrm flipH="1" flipV="1">
            <a:off x="1790436" y="1729727"/>
            <a:ext cx="415997" cy="90132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4579766"/>
                  </p:ext>
                </p:extLst>
              </p:nvPr>
            </p:nvGraphicFramePr>
            <p:xfrm>
              <a:off x="6204118" y="1308525"/>
              <a:ext cx="5852160" cy="31640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0080">
                      <a:extLst>
                        <a:ext uri="{9D8B030D-6E8A-4147-A177-3AD203B41FA5}">
                          <a16:colId xmlns:a16="http://schemas.microsoft.com/office/drawing/2014/main" val="3869307847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017250091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1068565402"/>
                        </a:ext>
                      </a:extLst>
                    </a:gridCol>
                    <a:gridCol w="822960">
                      <a:extLst>
                        <a:ext uri="{9D8B030D-6E8A-4147-A177-3AD203B41FA5}">
                          <a16:colId xmlns:a16="http://schemas.microsoft.com/office/drawing/2014/main" val="1908304558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48091257"/>
                        </a:ext>
                      </a:extLst>
                    </a:gridCol>
                  </a:tblGrid>
                  <a:tr h="281201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Constraint</a:t>
                          </a:r>
                          <a:r>
                            <a:rPr lang="en-US" sz="1200" baseline="0" dirty="0" smtClean="0"/>
                            <a:t> of variable names</a:t>
                          </a:r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891084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Device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L (m)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Number of</a:t>
                          </a:r>
                          <a:r>
                            <a:rPr lang="en-US" sz="1200" b="1" baseline="0" dirty="0" smtClean="0"/>
                            <a:t> finger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Multiplier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Range</a:t>
                          </a:r>
                          <a:r>
                            <a:rPr lang="en-US" sz="1200" b="1" baseline="0" dirty="0" smtClean="0"/>
                            <a:t> of value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191153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R0</a:t>
                          </a:r>
                          <a:endParaRPr lang="en-US" sz="12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l-GR" sz="1200" b="0" i="1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𝑟𝑏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(Ω)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𝑟𝑏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≤5000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𝑟𝑏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𝑖𝑛𝑡𝑒𝑔𝑒𝑟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72021056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stk_bias_n1*60n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fg_bias_n1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7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𝑓𝑔</m:t>
                                </m:r>
                                <m:r>
                                  <m:rPr>
                                    <m:lit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𝑏𝑖𝑎𝑠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𝑠𝑡𝑘</m:t>
                                </m:r>
                                <m:r>
                                  <m:rPr>
                                    <m:lit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𝑏𝑖𝑎𝑠</m:t>
                                </m:r>
                                <m:sSup>
                                  <m:sSup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𝑠𝑡𝑘</m:t>
                                </m:r>
                                <m:r>
                                  <m:rPr>
                                    <m:lit/>
                                  </m:rP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𝑏𝑖𝑎𝑠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1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fg</m:t>
                                </m:r>
                                <m:r>
                                  <m:rPr>
                                    <m:lit/>
                                  </m:rPr>
                                  <a:rPr lang="en-US" sz="11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𝑏𝑖𝑎𝑠</m:t>
                                </m:r>
                                <m:sSup>
                                  <m:sSupPr>
                                    <m:ctrlPr>
                                      <a:rPr lang="en-US" sz="11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1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1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are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1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integer</m:t>
                                </m:r>
                              </m:oMath>
                            </m:oMathPara>
                          </a14:m>
                          <a:endParaRPr lang="en-US" sz="1100" b="0" dirty="0"/>
                        </a:p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9619599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MN2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stk_bias_n2*60n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fg_bias_n2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859994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MN3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479107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stk_bias_p1*60n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fg_bias_p1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6013385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2224438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stk_bias_p3*60n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536332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8541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4579766"/>
                  </p:ext>
                </p:extLst>
              </p:nvPr>
            </p:nvGraphicFramePr>
            <p:xfrm>
              <a:off x="6204118" y="1308525"/>
              <a:ext cx="5852160" cy="31640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0080">
                      <a:extLst>
                        <a:ext uri="{9D8B030D-6E8A-4147-A177-3AD203B41FA5}">
                          <a16:colId xmlns:a16="http://schemas.microsoft.com/office/drawing/2014/main" val="3869307847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2017250091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val="1068565402"/>
                        </a:ext>
                      </a:extLst>
                    </a:gridCol>
                    <a:gridCol w="822960">
                      <a:extLst>
                        <a:ext uri="{9D8B030D-6E8A-4147-A177-3AD203B41FA5}">
                          <a16:colId xmlns:a16="http://schemas.microsoft.com/office/drawing/2014/main" val="1908304558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48091257"/>
                        </a:ext>
                      </a:extLst>
                    </a:gridCol>
                  </a:tblGrid>
                  <a:tr h="281201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Constraint</a:t>
                          </a:r>
                          <a:r>
                            <a:rPr lang="en-US" sz="1200" baseline="0" dirty="0" smtClean="0"/>
                            <a:t> of variable names</a:t>
                          </a:r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8910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Device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L (m)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Number of</a:t>
                          </a:r>
                          <a:r>
                            <a:rPr lang="en-US" sz="1200" b="1" baseline="0" dirty="0" smtClean="0"/>
                            <a:t> finger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Multiplier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Range</a:t>
                          </a:r>
                          <a:r>
                            <a:rPr lang="en-US" sz="1200" b="1" baseline="0" dirty="0" smtClean="0"/>
                            <a:t> of value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1911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R0</a:t>
                          </a:r>
                          <a:endParaRPr lang="en-US" sz="12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593" t="-162667" r="-58965" b="-442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5397" t="-162667" r="-1270" b="-44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21056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stk_bias_n1*60n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fg_bias_n1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7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5397" t="-60802" r="-1270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9619599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MN2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stk_bias_n2*60n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fg_bias_n2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859994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MN3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479107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stk_bias_p1*60n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fg_bias_p1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6013385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2224438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stk_bias_p3*60n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fg_bias_p3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536332"/>
                      </a:ext>
                    </a:extLst>
                  </a:tr>
                  <a:tr h="28120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8541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908015" y="228848"/>
                <a:ext cx="42767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**Note</a:t>
                </a:r>
                <a:r>
                  <a:rPr lang="en-US" dirty="0" smtClean="0"/>
                  <a:t>:</a:t>
                </a:r>
                <a:br>
                  <a:rPr lang="en-US" dirty="0" smtClean="0"/>
                </a:br>
                <a:r>
                  <a:rPr lang="en-US" dirty="0" smtClean="0"/>
                  <a:t>- Resistance of R0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𝟓𝟎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𝒓𝒃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b="1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</m:oMath>
                </a14:m>
                <a:endParaRPr lang="en-US" b="1" dirty="0" smtClean="0"/>
              </a:p>
              <a:p>
                <a:r>
                  <a:rPr lang="en-US" dirty="0" smtClean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l-GR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 fixed value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015" y="228848"/>
                <a:ext cx="4276725" cy="923330"/>
              </a:xfrm>
              <a:prstGeom prst="rect">
                <a:avLst/>
              </a:prstGeom>
              <a:blipFill>
                <a:blip r:embed="rId4"/>
                <a:stretch>
                  <a:fillRect l="-1140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0698561" y="3864528"/>
            <a:ext cx="97235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UPDATE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41863" y="4974712"/>
            <a:ext cx="320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** </a:t>
            </a:r>
            <a:r>
              <a:rPr lang="en-US" b="1" dirty="0" smtClean="0">
                <a:solidFill>
                  <a:srgbClr val="FF0000"/>
                </a:solidFill>
              </a:rPr>
              <a:t>finger width = 200n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82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190" y="2153617"/>
            <a:ext cx="4162734" cy="16184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BIAS - example</a:t>
            </a:r>
            <a:endParaRPr lang="en-US" sz="4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" y="1849430"/>
            <a:ext cx="7712667" cy="36274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43918" y="1192196"/>
            <a:ext cx="3321103" cy="646331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Total length = </a:t>
            </a:r>
            <a:r>
              <a:rPr lang="en-US" dirty="0" err="1" smtClean="0"/>
              <a:t>stk</a:t>
            </a:r>
            <a:r>
              <a:rPr lang="en-US" dirty="0" smtClean="0"/>
              <a:t> * 60n (</a:t>
            </a:r>
            <a:r>
              <a:rPr lang="en-US" dirty="0" err="1" smtClean="0"/>
              <a:t>stk</a:t>
            </a:r>
            <a:r>
              <a:rPr lang="en-US" dirty="0" smtClean="0"/>
              <a:t> is integer number (1, 2, …)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67926" y="2592228"/>
            <a:ext cx="1790700" cy="160497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14" idx="1"/>
          </p:cNvCxnSpPr>
          <p:nvPr/>
        </p:nvCxnSpPr>
        <p:spPr>
          <a:xfrm flipH="1" flipV="1">
            <a:off x="9296402" y="1849431"/>
            <a:ext cx="771524" cy="823046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67926" y="2791880"/>
            <a:ext cx="1790700" cy="160497"/>
          </a:xfrm>
          <a:prstGeom prst="roundRect">
            <a:avLst/>
          </a:prstGeom>
          <a:noFill/>
          <a:ln w="19050">
            <a:solidFill>
              <a:srgbClr val="CC24B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9601896" y="2691910"/>
            <a:ext cx="466030" cy="160497"/>
          </a:xfrm>
          <a:prstGeom prst="straightConnector1">
            <a:avLst/>
          </a:prstGeom>
          <a:ln w="19050">
            <a:solidFill>
              <a:srgbClr val="CC24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65915" y="2560534"/>
            <a:ext cx="1135981" cy="261610"/>
          </a:xfrm>
          <a:prstGeom prst="rect">
            <a:avLst/>
          </a:prstGeom>
          <a:noFill/>
          <a:ln w="19050">
            <a:solidFill>
              <a:srgbClr val="CC24B4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Min finger width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67926" y="3196227"/>
            <a:ext cx="1790700" cy="160497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26" idx="1"/>
            <a:endCxn id="28" idx="3"/>
          </p:cNvCxnSpPr>
          <p:nvPr/>
        </p:nvCxnSpPr>
        <p:spPr>
          <a:xfrm flipH="1">
            <a:off x="9834910" y="3276476"/>
            <a:ext cx="233016" cy="51281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98929" y="3489210"/>
            <a:ext cx="1135981" cy="60016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/>
              <a:t>n.o</a:t>
            </a:r>
            <a:r>
              <a:rPr lang="en-US" sz="1100" dirty="0" smtClean="0"/>
              <a:t> fingers, *0.5 means we want 60n per step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67926" y="3399796"/>
            <a:ext cx="1790700" cy="160497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31" idx="1"/>
            <a:endCxn id="33" idx="3"/>
          </p:cNvCxnSpPr>
          <p:nvPr/>
        </p:nvCxnSpPr>
        <p:spPr>
          <a:xfrm flipH="1">
            <a:off x="9834911" y="3480045"/>
            <a:ext cx="233015" cy="844008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98930" y="4193248"/>
            <a:ext cx="1135981" cy="26161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Keep multi=1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67926" y="2987852"/>
            <a:ext cx="1790700" cy="160497"/>
          </a:xfrm>
          <a:prstGeom prst="roundRect">
            <a:avLst/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35" idx="1"/>
            <a:endCxn id="37" idx="3"/>
          </p:cNvCxnSpPr>
          <p:nvPr/>
        </p:nvCxnSpPr>
        <p:spPr>
          <a:xfrm flipH="1">
            <a:off x="9682164" y="3068101"/>
            <a:ext cx="385762" cy="127819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46183" y="2980476"/>
            <a:ext cx="1135981" cy="43088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Automatically adjust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7358" y="3489210"/>
            <a:ext cx="1641507" cy="1055062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147358" y="4879768"/>
            <a:ext cx="1590675" cy="26161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Reference transistor size</a:t>
            </a:r>
            <a:endParaRPr lang="en-US" sz="1100" dirty="0" smtClean="0"/>
          </a:p>
        </p:txBody>
      </p:sp>
      <p:cxnSp>
        <p:nvCxnSpPr>
          <p:cNvPr id="53" name="Straight Arrow Connector 52"/>
          <p:cNvCxnSpPr>
            <a:stCxn id="44" idx="2"/>
            <a:endCxn id="46" idx="0"/>
          </p:cNvCxnSpPr>
          <p:nvPr/>
        </p:nvCxnSpPr>
        <p:spPr>
          <a:xfrm flipH="1">
            <a:off x="6942696" y="4544272"/>
            <a:ext cx="25416" cy="335496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230066" y="2144946"/>
            <a:ext cx="1956397" cy="646934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6256415" y="1883336"/>
            <a:ext cx="1021634" cy="26161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Variable name</a:t>
            </a:r>
            <a:endParaRPr lang="en-US" sz="1100" dirty="0" smtClean="0"/>
          </a:p>
        </p:txBody>
      </p:sp>
      <p:sp>
        <p:nvSpPr>
          <p:cNvPr id="65" name="TextBox 64"/>
          <p:cNvSpPr txBox="1"/>
          <p:nvPr/>
        </p:nvSpPr>
        <p:spPr>
          <a:xfrm>
            <a:off x="6256415" y="2252969"/>
            <a:ext cx="877810" cy="600164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stk_core_p1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fp_core_p1</a:t>
            </a:r>
            <a:endParaRPr lang="en-US" sz="1100" dirty="0" smtClean="0"/>
          </a:p>
        </p:txBody>
      </p:sp>
      <p:cxnSp>
        <p:nvCxnSpPr>
          <p:cNvPr id="66" name="Straight Arrow Connector 65"/>
          <p:cNvCxnSpPr>
            <a:stCxn id="62" idx="3"/>
            <a:endCxn id="65" idx="1"/>
          </p:cNvCxnSpPr>
          <p:nvPr/>
        </p:nvCxnSpPr>
        <p:spPr>
          <a:xfrm>
            <a:off x="5186463" y="2468413"/>
            <a:ext cx="1069952" cy="84638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3250730" y="3060297"/>
            <a:ext cx="1956397" cy="646934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6244666" y="2949372"/>
            <a:ext cx="889559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stk_core_p3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fp_core_p3</a:t>
            </a:r>
            <a:endParaRPr lang="en-US" sz="1100" dirty="0" smtClean="0"/>
          </a:p>
        </p:txBody>
      </p:sp>
      <p:cxnSp>
        <p:nvCxnSpPr>
          <p:cNvPr id="72" name="Straight Arrow Connector 71"/>
          <p:cNvCxnSpPr>
            <a:stCxn id="70" idx="3"/>
            <a:endCxn id="71" idx="1"/>
          </p:cNvCxnSpPr>
          <p:nvPr/>
        </p:nvCxnSpPr>
        <p:spPr>
          <a:xfrm flipV="1">
            <a:off x="5207127" y="3164816"/>
            <a:ext cx="1037539" cy="218948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3166328" y="4324053"/>
            <a:ext cx="1956397" cy="646934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74" idx="1"/>
            <a:endCxn id="80" idx="0"/>
          </p:cNvCxnSpPr>
          <p:nvPr/>
        </p:nvCxnSpPr>
        <p:spPr>
          <a:xfrm flipH="1">
            <a:off x="2701044" y="4647520"/>
            <a:ext cx="465284" cy="363053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256264" y="5010573"/>
            <a:ext cx="889559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stk_core_n2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fp_core_n2</a:t>
            </a:r>
            <a:endParaRPr lang="en-US" sz="1100" dirty="0" smtClean="0"/>
          </a:p>
        </p:txBody>
      </p:sp>
      <p:sp>
        <p:nvSpPr>
          <p:cNvPr id="85" name="Rounded Rectangle 84"/>
          <p:cNvSpPr/>
          <p:nvPr/>
        </p:nvSpPr>
        <p:spPr>
          <a:xfrm>
            <a:off x="1658793" y="4332222"/>
            <a:ext cx="597472" cy="638765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2048633" y="3585854"/>
            <a:ext cx="889559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stk_core_n1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fp_core_n1</a:t>
            </a:r>
            <a:endParaRPr lang="en-US" sz="1100" dirty="0" smtClean="0"/>
          </a:p>
        </p:txBody>
      </p:sp>
      <p:cxnSp>
        <p:nvCxnSpPr>
          <p:cNvPr id="87" name="Straight Arrow Connector 86"/>
          <p:cNvCxnSpPr>
            <a:stCxn id="85" idx="0"/>
            <a:endCxn id="86" idx="2"/>
          </p:cNvCxnSpPr>
          <p:nvPr/>
        </p:nvCxnSpPr>
        <p:spPr>
          <a:xfrm flipV="1">
            <a:off x="1957529" y="4016741"/>
            <a:ext cx="535884" cy="31548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562100" y="5686425"/>
            <a:ext cx="7734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**</a:t>
            </a:r>
            <a:r>
              <a:rPr lang="en-US" dirty="0" smtClean="0"/>
              <a:t> must follow variable name when applying optimization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53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BIAS - example</a:t>
            </a:r>
            <a:endParaRPr lang="en-US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45" y="1009650"/>
            <a:ext cx="6831802" cy="4215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955446" y="199827"/>
                <a:ext cx="5236553" cy="2627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DCOP check: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Static current through 1</a:t>
                </a:r>
                <a:r>
                  <a:rPr lang="en-US" baseline="30000" dirty="0" smtClean="0"/>
                  <a:t>st</a:t>
                </a:r>
                <a:r>
                  <a:rPr lang="en-US" dirty="0" smtClean="0"/>
                  <a:t> branch ~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Base current of BIAS circuit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All </a:t>
                </a:r>
                <a:r>
                  <a:rPr lang="en-US" dirty="0" err="1" smtClean="0"/>
                  <a:t>mosfets</a:t>
                </a:r>
                <a:r>
                  <a:rPr lang="en-US" dirty="0" smtClean="0"/>
                  <a:t> operate in saturation/sub-threshold region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DCOP condition:</a:t>
                </a:r>
              </a:p>
              <a:p>
                <a:pPr marL="800100" lvl="1" indent="-342900">
                  <a:buAutoNum type="arabicPeriod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Region</a:t>
                </a:r>
                <a:r>
                  <a:rPr lang="en-US" dirty="0" smtClean="0"/>
                  <a:t> = 2 (saturation) or 3 (sub-threshold)</a:t>
                </a:r>
              </a:p>
              <a:p>
                <a:pPr marL="800100" lvl="1" indent="-342900">
                  <a:buAutoNum type="arabicPeriod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Overdrive voltage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𝑔𝑠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𝑡h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≥−100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𝑚𝑉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800100" lvl="1" indent="-342900">
                  <a:buAutoNum type="arabicPeriod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Voltage margin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𝑑𝑠𝑎𝑡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𝑚𝑉</m:t>
                        </m:r>
                      </m:e>
                    </m:d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46" y="199827"/>
                <a:ext cx="5236553" cy="2627642"/>
              </a:xfrm>
              <a:prstGeom prst="rect">
                <a:avLst/>
              </a:prstGeom>
              <a:blipFill>
                <a:blip r:embed="rId3"/>
                <a:stretch>
                  <a:fillRect l="-1048" t="-1392" b="-2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55446" y="2847111"/>
                <a:ext cx="4892621" cy="1561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/>
                  <a:t>How to check? </a:t>
                </a:r>
                <a:r>
                  <a:rPr lang="en-US" b="1" dirty="0" smtClean="0">
                    <a:sym typeface="Wingdings" panose="05000000000000000000" pitchFamily="2" charset="2"/>
                  </a:rPr>
                  <a:t> </a:t>
                </a:r>
                <a:r>
                  <a:rPr lang="en-US" b="1" dirty="0" smtClean="0"/>
                  <a:t>DCOP verification sequence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/>
                  <a:t>If region = 2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:r>
                  <a:rPr lang="en-US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PASS DCOP</a:t>
                </a:r>
              </a:p>
              <a:p>
                <a:pPr marL="342900" indent="-342900">
                  <a:buAutoNum type="arabicPeriod"/>
                </a:pPr>
                <a:r>
                  <a:rPr lang="en-US" dirty="0" smtClean="0">
                    <a:sym typeface="Wingdings" panose="05000000000000000000" pitchFamily="2" charset="2"/>
                  </a:rPr>
                  <a:t>If region = 3  check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≤100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𝑚𝑉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𝑛𝑜𝑡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?</m:t>
                    </m:r>
                  </m:oMath>
                </a14:m>
                <a:endParaRPr lang="en-US" b="0" dirty="0" smtClean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≤100 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𝑚𝑉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→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PASS</m:t>
                    </m:r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DCOP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Else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:r>
                  <a:rPr lang="en-US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FAIL DCOP </a:t>
                </a:r>
                <a:r>
                  <a:rPr lang="en-US" dirty="0" smtClean="0">
                    <a:sym typeface="Wingdings" panose="05000000000000000000" pitchFamily="2" charset="2"/>
                  </a:rPr>
                  <a:t>check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46" y="2847111"/>
                <a:ext cx="4892621" cy="1561966"/>
              </a:xfrm>
              <a:prstGeom prst="rect">
                <a:avLst/>
              </a:prstGeom>
              <a:blipFill>
                <a:blip r:embed="rId4"/>
                <a:stretch>
                  <a:fillRect l="-1121" t="-2344" b="-5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5697756" y="3456799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48945" y="3628094"/>
            <a:ext cx="94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i_check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55446" y="4432440"/>
                <a:ext cx="51413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We have: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𝑐h𝑒𝑐𝑘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 smtClean="0"/>
                  <a:t>we need this value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 smtClean="0"/>
                  <a:t> as base current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Allowable value range: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9.5 ;10.5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46" y="4432440"/>
                <a:ext cx="5141304" cy="923330"/>
              </a:xfrm>
              <a:prstGeom prst="rect">
                <a:avLst/>
              </a:prstGeom>
              <a:blipFill>
                <a:blip r:embed="rId5"/>
                <a:stretch>
                  <a:fillRect l="-1068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6073393"/>
                  </p:ext>
                </p:extLst>
              </p:nvPr>
            </p:nvGraphicFramePr>
            <p:xfrm>
              <a:off x="847725" y="5379133"/>
              <a:ext cx="10243390" cy="13948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556">
                      <a:extLst>
                        <a:ext uri="{9D8B030D-6E8A-4147-A177-3AD203B41FA5}">
                          <a16:colId xmlns:a16="http://schemas.microsoft.com/office/drawing/2014/main" val="3100779037"/>
                        </a:ext>
                      </a:extLst>
                    </a:gridCol>
                    <a:gridCol w="1733909">
                      <a:extLst>
                        <a:ext uri="{9D8B030D-6E8A-4147-A177-3AD203B41FA5}">
                          <a16:colId xmlns:a16="http://schemas.microsoft.com/office/drawing/2014/main" val="545029933"/>
                        </a:ext>
                      </a:extLst>
                    </a:gridCol>
                    <a:gridCol w="3145885">
                      <a:extLst>
                        <a:ext uri="{9D8B030D-6E8A-4147-A177-3AD203B41FA5}">
                          <a16:colId xmlns:a16="http://schemas.microsoft.com/office/drawing/2014/main" val="1623197797"/>
                        </a:ext>
                      </a:extLst>
                    </a:gridCol>
                    <a:gridCol w="3213581">
                      <a:extLst>
                        <a:ext uri="{9D8B030D-6E8A-4147-A177-3AD203B41FA5}">
                          <a16:colId xmlns:a16="http://schemas.microsoft.com/office/drawing/2014/main" val="594758890"/>
                        </a:ext>
                      </a:extLst>
                    </a:gridCol>
                    <a:gridCol w="800459">
                      <a:extLst>
                        <a:ext uri="{9D8B030D-6E8A-4147-A177-3AD203B41FA5}">
                          <a16:colId xmlns:a16="http://schemas.microsoft.com/office/drawing/2014/main" val="3367615813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8415811"/>
                      </a:ext>
                    </a:extLst>
                  </a:tr>
                  <a:tr h="3809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𝑟𝑒𝑔𝑖𝑜𝑛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Operation region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3</m:t>
                              </m:r>
                            </m:oMath>
                          </a14:m>
                          <a:r>
                            <a:rPr lang="en-US" dirty="0" smtClean="0"/>
                            <a:t> (follow</a:t>
                          </a:r>
                          <a:r>
                            <a:rPr lang="en-US" baseline="0" dirty="0" smtClean="0"/>
                            <a:t> the verification sequence above)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1682077"/>
                      </a:ext>
                    </a:extLst>
                  </a:tr>
                  <a:tr h="380907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𝑐h𝑒𝑐𝑘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Base current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9.5≤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𝑐h𝑒𝑐𝑘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≤10.5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76884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6073393"/>
                  </p:ext>
                </p:extLst>
              </p:nvPr>
            </p:nvGraphicFramePr>
            <p:xfrm>
              <a:off x="847725" y="5379133"/>
              <a:ext cx="10243390" cy="13948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9556">
                      <a:extLst>
                        <a:ext uri="{9D8B030D-6E8A-4147-A177-3AD203B41FA5}">
                          <a16:colId xmlns:a16="http://schemas.microsoft.com/office/drawing/2014/main" val="3100779037"/>
                        </a:ext>
                      </a:extLst>
                    </a:gridCol>
                    <a:gridCol w="1733909">
                      <a:extLst>
                        <a:ext uri="{9D8B030D-6E8A-4147-A177-3AD203B41FA5}">
                          <a16:colId xmlns:a16="http://schemas.microsoft.com/office/drawing/2014/main" val="545029933"/>
                        </a:ext>
                      </a:extLst>
                    </a:gridCol>
                    <a:gridCol w="3145885">
                      <a:extLst>
                        <a:ext uri="{9D8B030D-6E8A-4147-A177-3AD203B41FA5}">
                          <a16:colId xmlns:a16="http://schemas.microsoft.com/office/drawing/2014/main" val="1623197797"/>
                        </a:ext>
                      </a:extLst>
                    </a:gridCol>
                    <a:gridCol w="3213581">
                      <a:extLst>
                        <a:ext uri="{9D8B030D-6E8A-4147-A177-3AD203B41FA5}">
                          <a16:colId xmlns:a16="http://schemas.microsoft.com/office/drawing/2014/main" val="594758890"/>
                        </a:ext>
                      </a:extLst>
                    </a:gridCol>
                    <a:gridCol w="800459">
                      <a:extLst>
                        <a:ext uri="{9D8B030D-6E8A-4147-A177-3AD203B41FA5}">
                          <a16:colId xmlns:a16="http://schemas.microsoft.com/office/drawing/2014/main" val="3367615813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8415811"/>
                      </a:ext>
                    </a:extLst>
                  </a:tr>
                  <a:tr h="64008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77895" t="-62857" r="-413684" b="-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Operation region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93750" t="-62857" r="-25568" b="-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1682077"/>
                      </a:ext>
                    </a:extLst>
                  </a:tr>
                  <a:tr h="380907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77895" t="-271429" r="-413684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Base current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93750" t="-271429" r="-25568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183969" t="-271429" r="-3053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76884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831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BIAS - example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45" y="1050000"/>
            <a:ext cx="9373908" cy="123842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045" y="1242204"/>
            <a:ext cx="9373908" cy="6814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16" idx="3"/>
          </p:cNvCxnSpPr>
          <p:nvPr/>
        </p:nvCxnSpPr>
        <p:spPr>
          <a:xfrm flipV="1">
            <a:off x="9649953" y="1578634"/>
            <a:ext cx="572349" cy="43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22302" y="906294"/>
            <a:ext cx="19153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of DCOP check of 1 device </a:t>
            </a:r>
            <a:r>
              <a:rPr lang="en-US" dirty="0" smtClean="0">
                <a:sym typeface="Wingdings" panose="05000000000000000000" pitchFamily="2" charset="2"/>
              </a:rPr>
              <a:t> need to check all devices in schematic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846053" y="1050000"/>
            <a:ext cx="2725947" cy="123842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9376606" y="2720052"/>
            <a:ext cx="2588232" cy="3478802"/>
            <a:chOff x="7843756" y="2527328"/>
            <a:chExt cx="3612393" cy="4233807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43756" y="2527328"/>
              <a:ext cx="3612393" cy="4233807"/>
            </a:xfrm>
            <a:prstGeom prst="rect">
              <a:avLst/>
            </a:prstGeom>
          </p:spPr>
        </p:pic>
        <p:sp>
          <p:nvSpPr>
            <p:cNvPr id="12" name="Oval 11"/>
            <p:cNvSpPr/>
            <p:nvPr/>
          </p:nvSpPr>
          <p:spPr>
            <a:xfrm>
              <a:off x="8096080" y="3804557"/>
              <a:ext cx="474453" cy="39681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12" idx="0"/>
            </p:cNvCxnSpPr>
            <p:nvPr/>
          </p:nvCxnSpPr>
          <p:spPr>
            <a:xfrm flipH="1" flipV="1">
              <a:off x="8234102" y="3192082"/>
              <a:ext cx="99205" cy="61247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9557576" y="2575826"/>
              <a:ext cx="1820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chemeClr val="bg1"/>
                  </a:solidFill>
                </a:rPr>
                <a:t>Testbench</a:t>
              </a:r>
              <a:r>
                <a:rPr lang="en-US" dirty="0" smtClean="0">
                  <a:solidFill>
                    <a:schemeClr val="bg1"/>
                  </a:solidFill>
                </a:rPr>
                <a:t> setup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996156" y="2698151"/>
              <a:ext cx="8798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Cell name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276045" y="1049999"/>
            <a:ext cx="997659" cy="123842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3" idx="2"/>
          </p:cNvCxnSpPr>
          <p:nvPr/>
        </p:nvCxnSpPr>
        <p:spPr>
          <a:xfrm>
            <a:off x="774875" y="2288422"/>
            <a:ext cx="1502" cy="287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72527" y="2545751"/>
            <a:ext cx="1362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of parameters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3132918" y="2265717"/>
            <a:ext cx="1502" cy="287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34330" y="2575826"/>
            <a:ext cx="3068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Measurement </a:t>
            </a:r>
            <a:r>
              <a:rPr lang="en-US" dirty="0" smtClean="0">
                <a:sym typeface="Wingdings" panose="05000000000000000000" pitchFamily="2" charset="2"/>
              </a:rPr>
              <a:t> can include in OCEAN file to do the </a:t>
            </a:r>
            <a:r>
              <a:rPr lang="en-US" dirty="0" err="1" smtClean="0">
                <a:sym typeface="Wingdings" panose="05000000000000000000" pitchFamily="2" charset="2"/>
              </a:rPr>
              <a:t>simualtion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276044" y="2076879"/>
            <a:ext cx="9373908" cy="1969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590581" y="2288422"/>
            <a:ext cx="17253" cy="732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578323" y="2984026"/>
                <a:ext cx="21130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𝑐h𝑒𝑐𝑘</m:t>
                        </m:r>
                      </m:sub>
                    </m:sSub>
                  </m:oMath>
                </a14:m>
                <a:r>
                  <a:rPr lang="en-US" i="1" dirty="0" smtClean="0"/>
                  <a:t> </a:t>
                </a:r>
                <a:r>
                  <a:rPr lang="en-US" dirty="0" smtClean="0"/>
                  <a:t>measurement</a:t>
                </a:r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323" y="2984026"/>
                <a:ext cx="2113035" cy="369332"/>
              </a:xfrm>
              <a:prstGeom prst="rect">
                <a:avLst/>
              </a:prstGeom>
              <a:blipFill>
                <a:blip r:embed="rId4"/>
                <a:stretch>
                  <a:fillRect t="-10000" r="-201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28" y="3459007"/>
            <a:ext cx="2709005" cy="322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15357" y="4378957"/>
            <a:ext cx="1825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 DCOP analysis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41348" y="3769516"/>
                <a:ext cx="4754410" cy="1268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 smtClean="0"/>
                  <a:t>After pass all the requirement (DCOP, </a:t>
                </a:r>
                <a:r>
                  <a:rPr lang="en-US" dirty="0" err="1" smtClean="0"/>
                  <a:t>i_check</a:t>
                </a:r>
                <a:r>
                  <a:rPr lang="en-US" dirty="0" smtClean="0"/>
                  <a:t>)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𝐹𝑂𝑀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𝑎𝑏𝑠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𝑐h𝑒𝑐𝑘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𝑢𝐴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𝑭𝑶𝑴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𝒉𝒊𝒈𝒉𝒆𝒓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𝒃𝒆𝒕𝒕𝒆𝒓</m:t>
                      </m:r>
                    </m:oMath>
                  </m:oMathPara>
                </a14:m>
                <a:endParaRPr lang="en-US" b="1" dirty="0" smtClean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348" y="3769516"/>
                <a:ext cx="4754410" cy="1268681"/>
              </a:xfrm>
              <a:prstGeom prst="rect">
                <a:avLst/>
              </a:prstGeom>
              <a:blipFill>
                <a:blip r:embed="rId6"/>
                <a:stretch>
                  <a:fillRect l="-1155" t="-2404" b="-3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033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27" y="217695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</a:t>
            </a:r>
            <a:endParaRPr lang="en-US" sz="4000" dirty="0" smtClean="0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38" y="1256920"/>
            <a:ext cx="9669224" cy="544906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526119" y="120126"/>
            <a:ext cx="3570631" cy="92333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2. Replace 2 </a:t>
            </a:r>
            <a:r>
              <a:rPr lang="en-US" smtClean="0"/>
              <a:t>identical core </a:t>
            </a:r>
            <a:r>
              <a:rPr lang="en-US" dirty="0" smtClean="0"/>
              <a:t>PMOS by 2 ideal current source having same current value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384931" y="1855580"/>
            <a:ext cx="2470742" cy="614422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/>
          <p:cNvCxnSpPr>
            <a:stCxn id="96" idx="3"/>
            <a:endCxn id="95" idx="1"/>
          </p:cNvCxnSpPr>
          <p:nvPr/>
        </p:nvCxnSpPr>
        <p:spPr>
          <a:xfrm flipV="1">
            <a:off x="6855673" y="581791"/>
            <a:ext cx="1670446" cy="158100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276622" y="1754694"/>
            <a:ext cx="2244993" cy="64633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1. Must be the same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35508" y="3820155"/>
            <a:ext cx="2589898" cy="685282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Arrow Connector 99"/>
          <p:cNvCxnSpPr/>
          <p:nvPr/>
        </p:nvCxnSpPr>
        <p:spPr>
          <a:xfrm flipV="1">
            <a:off x="1948425" y="2401025"/>
            <a:ext cx="232224" cy="141913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4242337" y="1936418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521615" y="2013555"/>
            <a:ext cx="82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Ibp</a:t>
            </a:r>
            <a:r>
              <a:rPr lang="en-US" b="1" dirty="0" smtClean="0">
                <a:solidFill>
                  <a:srgbClr val="FF0000"/>
                </a:solidFill>
              </a:rPr>
              <a:t>=i0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4543651" y="3701156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218715" y="3778293"/>
            <a:ext cx="43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i1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1222749" y="3179384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897813" y="3256521"/>
            <a:ext cx="43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i2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7" name="Straight Arrow Connector 106"/>
          <p:cNvCxnSpPr/>
          <p:nvPr/>
        </p:nvCxnSpPr>
        <p:spPr>
          <a:xfrm>
            <a:off x="2887881" y="3179384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2562945" y="3256521"/>
            <a:ext cx="43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i2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9" name="Straight Arrow Connector 108"/>
          <p:cNvCxnSpPr/>
          <p:nvPr/>
        </p:nvCxnSpPr>
        <p:spPr>
          <a:xfrm>
            <a:off x="2214902" y="4855408"/>
            <a:ext cx="5287" cy="3715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394414" y="4894775"/>
            <a:ext cx="82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Ibn=i3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11" name="Straight Arrow Connector 110"/>
          <p:cNvCxnSpPr/>
          <p:nvPr/>
        </p:nvCxnSpPr>
        <p:spPr>
          <a:xfrm>
            <a:off x="6500023" y="3743018"/>
            <a:ext cx="809" cy="523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6192265" y="3840555"/>
            <a:ext cx="43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i1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2562945" y="4855408"/>
                <a:ext cx="1456728" cy="66774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𝑏𝑝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𝑏𝑛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945" y="4855408"/>
                <a:ext cx="1456728" cy="6677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Arrow Connector 113"/>
          <p:cNvCxnSpPr/>
          <p:nvPr/>
        </p:nvCxnSpPr>
        <p:spPr>
          <a:xfrm flipH="1">
            <a:off x="6445948" y="2520647"/>
            <a:ext cx="24" cy="4409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5623877" y="2580955"/>
            <a:ext cx="82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Ibp</a:t>
            </a:r>
            <a:r>
              <a:rPr lang="en-US" b="1" dirty="0" smtClean="0">
                <a:solidFill>
                  <a:srgbClr val="FF0000"/>
                </a:solidFill>
              </a:rPr>
              <a:t>=i0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533796" y="1206245"/>
            <a:ext cx="3562954" cy="92333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3. These 2 devices must be the same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), no need to be as same as other pair</a:t>
            </a:r>
            <a:endParaRPr lang="en-US" dirty="0"/>
          </a:p>
        </p:txBody>
      </p:sp>
      <p:sp>
        <p:nvSpPr>
          <p:cNvPr id="117" name="Rounded Rectangle 116"/>
          <p:cNvSpPr/>
          <p:nvPr/>
        </p:nvSpPr>
        <p:spPr>
          <a:xfrm>
            <a:off x="4242337" y="3214615"/>
            <a:ext cx="2613336" cy="538826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/>
          <p:cNvCxnSpPr>
            <a:stCxn id="117" idx="3"/>
            <a:endCxn id="116" idx="1"/>
          </p:cNvCxnSpPr>
          <p:nvPr/>
        </p:nvCxnSpPr>
        <p:spPr>
          <a:xfrm flipV="1">
            <a:off x="6855673" y="1667910"/>
            <a:ext cx="1678123" cy="1816118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541663" y="4241313"/>
            <a:ext cx="2562225" cy="1200329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5. These 2 devices must be the same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), no need to be as same as </a:t>
            </a:r>
            <a:r>
              <a:rPr lang="en-US" dirty="0"/>
              <a:t>other pair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198632" y="4401467"/>
            <a:ext cx="2643388" cy="563678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120"/>
          <p:cNvCxnSpPr>
            <a:stCxn id="120" idx="3"/>
            <a:endCxn id="119" idx="1"/>
          </p:cNvCxnSpPr>
          <p:nvPr/>
        </p:nvCxnSpPr>
        <p:spPr>
          <a:xfrm>
            <a:off x="6842020" y="4683306"/>
            <a:ext cx="2699643" cy="15817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9534525" y="5505651"/>
            <a:ext cx="2562434" cy="1200329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r>
              <a:rPr lang="en-US" dirty="0" smtClean="0"/>
              <a:t>. These 2 devices must be the same (</a:t>
            </a:r>
            <a:r>
              <a:rPr lang="en-US" dirty="0" err="1" smtClean="0"/>
              <a:t>fg</a:t>
            </a:r>
            <a:r>
              <a:rPr lang="en-US" dirty="0" smtClean="0"/>
              <a:t> &amp; </a:t>
            </a:r>
            <a:r>
              <a:rPr lang="en-US" dirty="0" err="1" smtClean="0"/>
              <a:t>stk</a:t>
            </a:r>
            <a:r>
              <a:rPr lang="en-US" dirty="0" smtClean="0"/>
              <a:t>), no need to be as same as </a:t>
            </a:r>
            <a:r>
              <a:rPr lang="en-US" dirty="0"/>
              <a:t>other pair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242337" y="5720502"/>
            <a:ext cx="2623305" cy="563678"/>
          </a:xfrm>
          <a:prstGeom prst="roundRect">
            <a:avLst/>
          </a:prstGeom>
          <a:noFill/>
          <a:ln w="381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Arrow Connector 123"/>
          <p:cNvCxnSpPr>
            <a:stCxn id="123" idx="3"/>
            <a:endCxn id="122" idx="1"/>
          </p:cNvCxnSpPr>
          <p:nvPr/>
        </p:nvCxnSpPr>
        <p:spPr>
          <a:xfrm>
            <a:off x="6865642" y="6002341"/>
            <a:ext cx="2668883" cy="103475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1781862" y="5653445"/>
            <a:ext cx="767912" cy="637242"/>
          </a:xfrm>
          <a:prstGeom prst="roundRect">
            <a:avLst/>
          </a:prstGeom>
          <a:noFill/>
          <a:ln w="38100">
            <a:solidFill>
              <a:srgbClr val="CC24B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/>
          <p:cNvSpPr txBox="1"/>
          <p:nvPr/>
        </p:nvSpPr>
        <p:spPr>
          <a:xfrm>
            <a:off x="63260" y="5710756"/>
            <a:ext cx="1342156" cy="923330"/>
          </a:xfrm>
          <a:prstGeom prst="rect">
            <a:avLst/>
          </a:prstGeom>
          <a:noFill/>
          <a:ln w="19050">
            <a:solidFill>
              <a:srgbClr val="CC24B4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7. Replace by current source</a:t>
            </a:r>
          </a:p>
        </p:txBody>
      </p:sp>
      <p:cxnSp>
        <p:nvCxnSpPr>
          <p:cNvPr id="132" name="Straight Arrow Connector 131"/>
          <p:cNvCxnSpPr>
            <a:stCxn id="125" idx="1"/>
            <a:endCxn id="127" idx="3"/>
          </p:cNvCxnSpPr>
          <p:nvPr/>
        </p:nvCxnSpPr>
        <p:spPr>
          <a:xfrm flipH="1">
            <a:off x="1405416" y="5972066"/>
            <a:ext cx="376446" cy="200355"/>
          </a:xfrm>
          <a:prstGeom prst="straightConnector1">
            <a:avLst/>
          </a:prstGeom>
          <a:ln w="28575">
            <a:solidFill>
              <a:srgbClr val="CC24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3183920" y="134667"/>
            <a:ext cx="4324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**</a:t>
            </a:r>
            <a:r>
              <a:rPr lang="en-US" sz="1400" dirty="0" smtClean="0"/>
              <a:t> When we separately design EA, there are no more information </a:t>
            </a:r>
            <a:r>
              <a:rPr lang="en-US" sz="1400" smtClean="0"/>
              <a:t>about </a:t>
            </a:r>
            <a:r>
              <a:rPr lang="en-US" sz="1400" smtClean="0">
                <a:solidFill>
                  <a:srgbClr val="FF0000"/>
                </a:solidFill>
              </a:rPr>
              <a:t>core </a:t>
            </a:r>
            <a:r>
              <a:rPr lang="en-US" sz="1400" dirty="0" smtClean="0">
                <a:solidFill>
                  <a:srgbClr val="FF0000"/>
                </a:solidFill>
              </a:rPr>
              <a:t>voltage </a:t>
            </a:r>
            <a:r>
              <a:rPr lang="en-US" sz="1400" smtClean="0"/>
              <a:t>from core </a:t>
            </a:r>
            <a:r>
              <a:rPr lang="en-US" sz="1400" dirty="0" smtClean="0"/>
              <a:t>cell </a:t>
            </a:r>
            <a:r>
              <a:rPr lang="en-US" sz="1400" dirty="0" smtClean="0">
                <a:sym typeface="Wingdings" panose="05000000000000000000" pitchFamily="2" charset="2"/>
              </a:rPr>
              <a:t> </a:t>
            </a:r>
            <a:r>
              <a:rPr lang="en-US" sz="1400" smtClean="0">
                <a:sym typeface="Wingdings" panose="05000000000000000000" pitchFamily="2" charset="2"/>
              </a:rPr>
              <a:t>replace core </a:t>
            </a:r>
            <a:r>
              <a:rPr lang="en-US" sz="1400" dirty="0" smtClean="0">
                <a:sym typeface="Wingdings" panose="05000000000000000000" pitchFamily="2" charset="2"/>
              </a:rPr>
              <a:t>devices by current sources and just need to evaluate the </a:t>
            </a:r>
            <a:r>
              <a:rPr lang="en-US" sz="1400" smtClean="0">
                <a:sym typeface="Wingdings" panose="05000000000000000000" pitchFamily="2" charset="2"/>
              </a:rPr>
              <a:t>optimized core </a:t>
            </a:r>
            <a:r>
              <a:rPr lang="en-US" sz="1400" dirty="0" smtClean="0">
                <a:sym typeface="Wingdings" panose="05000000000000000000" pitchFamily="2" charset="2"/>
              </a:rPr>
              <a:t>current</a:t>
            </a:r>
            <a:endParaRPr lang="en-US" sz="1400" dirty="0"/>
          </a:p>
        </p:txBody>
      </p:sp>
      <p:sp>
        <p:nvSpPr>
          <p:cNvPr id="162" name="Oval 161"/>
          <p:cNvSpPr/>
          <p:nvPr/>
        </p:nvSpPr>
        <p:spPr>
          <a:xfrm>
            <a:off x="7343775" y="2401025"/>
            <a:ext cx="865545" cy="85549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Arrow Connector 162"/>
          <p:cNvCxnSpPr>
            <a:stCxn id="162" idx="6"/>
            <a:endCxn id="165" idx="1"/>
          </p:cNvCxnSpPr>
          <p:nvPr/>
        </p:nvCxnSpPr>
        <p:spPr>
          <a:xfrm>
            <a:off x="8209320" y="2828773"/>
            <a:ext cx="572929" cy="931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8782249" y="2321794"/>
            <a:ext cx="3314501" cy="1200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4. Need to choose (</a:t>
            </a:r>
            <a:r>
              <a:rPr lang="en-US" dirty="0" err="1" smtClean="0"/>
              <a:t>fg</a:t>
            </a:r>
            <a:r>
              <a:rPr lang="en-US" dirty="0" smtClean="0"/>
              <a:t>, </a:t>
            </a:r>
            <a:r>
              <a:rPr lang="en-US" dirty="0" err="1" smtClean="0"/>
              <a:t>stk</a:t>
            </a:r>
            <a:r>
              <a:rPr lang="en-US" dirty="0" smtClean="0"/>
              <a:t> &amp; m – multi) to adapt both min &amp; max current consumption from load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0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27" y="217695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Core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0" y="2819856"/>
            <a:ext cx="6648473" cy="3972305"/>
            <a:chOff x="137438" y="1256920"/>
            <a:chExt cx="9669224" cy="5449060"/>
          </a:xfrm>
        </p:grpSpPr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438" y="1256920"/>
              <a:ext cx="9669224" cy="5449060"/>
            </a:xfrm>
            <a:prstGeom prst="rect">
              <a:avLst/>
            </a:prstGeom>
          </p:spPr>
        </p:pic>
        <p:sp>
          <p:nvSpPr>
            <p:cNvPr id="96" name="Rounded Rectangle 95"/>
            <p:cNvSpPr/>
            <p:nvPr/>
          </p:nvSpPr>
          <p:spPr>
            <a:xfrm>
              <a:off x="4384931" y="1855580"/>
              <a:ext cx="2470742" cy="614422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835508" y="3820155"/>
              <a:ext cx="2589898" cy="685282"/>
            </a:xfrm>
            <a:prstGeom prst="roundRect">
              <a:avLst/>
            </a:prstGeom>
            <a:noFill/>
            <a:ln w="38100"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4242337" y="3214615"/>
              <a:ext cx="2613336" cy="538826"/>
            </a:xfrm>
            <a:prstGeom prst="roundRect">
              <a:avLst/>
            </a:prstGeom>
            <a:noFill/>
            <a:ln w="38100">
              <a:solidFill>
                <a:srgbClr val="92D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4198632" y="4401467"/>
              <a:ext cx="2643388" cy="563678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4242337" y="5720502"/>
              <a:ext cx="2623305" cy="563678"/>
            </a:xfrm>
            <a:prstGeom prst="roundRect">
              <a:avLst/>
            </a:prstGeom>
            <a:noFill/>
            <a:ln w="38100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1781862" y="5653445"/>
              <a:ext cx="767912" cy="637242"/>
            </a:xfrm>
            <a:prstGeom prst="roundRect">
              <a:avLst/>
            </a:prstGeom>
            <a:noFill/>
            <a:ln w="38100">
              <a:solidFill>
                <a:srgbClr val="CC24B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/>
            <p:cNvSpPr/>
            <p:nvPr/>
          </p:nvSpPr>
          <p:spPr>
            <a:xfrm>
              <a:off x="7343775" y="2401025"/>
              <a:ext cx="865545" cy="8554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Table 4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4989522"/>
                  </p:ext>
                </p:extLst>
              </p:nvPr>
            </p:nvGraphicFramePr>
            <p:xfrm>
              <a:off x="5686426" y="55923"/>
              <a:ext cx="6461654" cy="44168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1501">
                      <a:extLst>
                        <a:ext uri="{9D8B030D-6E8A-4147-A177-3AD203B41FA5}">
                          <a16:colId xmlns:a16="http://schemas.microsoft.com/office/drawing/2014/main" val="3869307847"/>
                        </a:ext>
                      </a:extLst>
                    </a:gridCol>
                    <a:gridCol w="1223703">
                      <a:extLst>
                        <a:ext uri="{9D8B030D-6E8A-4147-A177-3AD203B41FA5}">
                          <a16:colId xmlns:a16="http://schemas.microsoft.com/office/drawing/2014/main" val="2017250091"/>
                        </a:ext>
                      </a:extLst>
                    </a:gridCol>
                    <a:gridCol w="1190445">
                      <a:extLst>
                        <a:ext uri="{9D8B030D-6E8A-4147-A177-3AD203B41FA5}">
                          <a16:colId xmlns:a16="http://schemas.microsoft.com/office/drawing/2014/main" val="10685654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908304558"/>
                        </a:ext>
                      </a:extLst>
                    </a:gridCol>
                    <a:gridCol w="2391605">
                      <a:extLst>
                        <a:ext uri="{9D8B030D-6E8A-4147-A177-3AD203B41FA5}">
                          <a16:colId xmlns:a16="http://schemas.microsoft.com/office/drawing/2014/main" val="248091257"/>
                        </a:ext>
                      </a:extLst>
                    </a:gridCol>
                  </a:tblGrid>
                  <a:tr h="202127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Constraint</a:t>
                          </a:r>
                          <a:r>
                            <a:rPr lang="en-US" sz="1200" baseline="0" dirty="0" smtClean="0"/>
                            <a:t> of variable names</a:t>
                          </a:r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891084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Device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L (m)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Number of</a:t>
                          </a:r>
                          <a:r>
                            <a:rPr lang="en-US" sz="1000" b="1" baseline="0" dirty="0" smtClean="0"/>
                            <a:t> finger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Multiplier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Range</a:t>
                          </a:r>
                          <a:r>
                            <a:rPr lang="en-US" sz="1000" b="1" baseline="0" dirty="0" smtClean="0"/>
                            <a:t> of value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191153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MPP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stk_core_mpp</a:t>
                          </a:r>
                          <a:r>
                            <a:rPr lang="en-US" sz="1000" u="none" strike="noStrike" dirty="0" smtClean="0">
                              <a:effectLst/>
                            </a:rPr>
                            <a:t>*60n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fg_core_mpp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m_core_mpp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 rowSpan="9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2≤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𝑓𝑔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≤100 (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𝑒𝑥𝑐𝑙𝑢𝑑𝑒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𝑚𝑝𝑝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𝑠𝑡𝑘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≤10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10≤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𝑚𝑝𝑝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≤30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50≤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𝑓𝑔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𝑚𝑝𝑝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≤200</m:t>
                                </m:r>
                              </m:oMath>
                            </m:oMathPara>
                          </a14:m>
                          <a:endParaRPr lang="en-US" sz="1000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𝑠𝑡𝑘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sz="10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𝑓𝑔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0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sz="10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fg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𝑐𝑜𝑟𝑒</m:t>
                                </m:r>
                                <m:sSup>
                                  <m:sSupPr>
                                    <m:ctrlPr>
                                      <a:rPr lang="en-US" sz="10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sz="10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</m:e>
                                  <m:sup>
                                    <m:r>
                                      <a:rPr lang="en-US" sz="1000" b="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sz="10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0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are</m:t>
                                </m:r>
                                <m:r>
                                  <m:rPr>
                                    <m:nor/>
                                  </m:rPr>
                                  <a:rPr lang="en-US" sz="10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000" b="0" dirty="0" smtClean="0">
                                    <a:solidFill>
                                      <a:srgbClr val="FF0000"/>
                                    </a:solidFill>
                                  </a:rPr>
                                  <m:t>integer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7040971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stk_core_nd1*60n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fg_core_nd1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9619599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MND2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6130336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stk_core_n1*60n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859994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479107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MN3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stk_core_n3*60n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6013385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2224438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smtClean="0">
                              <a:effectLst/>
                            </a:rPr>
                            <a:t>stk_core_p3*60n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fg_core_p3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536332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854119"/>
                      </a:ext>
                    </a:extLst>
                  </a:tr>
                  <a:tr h="18181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𝑖𝑏𝑛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𝑐𝑜𝑒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    ,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ibn</m:t>
                                </m:r>
                                <m:r>
                                  <a:rPr lang="en-US" sz="10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is</m:t>
                                </m:r>
                                <m:r>
                                  <a:rPr lang="en-US" sz="10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integer</m:t>
                                </m:r>
                                <m:r>
                                  <a:rPr lang="en-US" sz="1000" b="0" i="0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000" b="0" i="0" u="none" strike="noStrike" dirty="0"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2≤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p>
                                  <m:sSup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lit/>
                                  </m:r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𝑐𝑜𝑒</m:t>
                                </m: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≤50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381721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ibp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𝑖𝑏𝑝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𝑐𝑜𝑒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    ,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𝑖𝑏𝑝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𝑖𝑛𝑡𝑒𝑔𝑒𝑟</m:t>
                                </m:r>
                              </m:oMath>
                            </m:oMathPara>
                          </a14:m>
                          <a:endParaRPr lang="en-US" sz="1000" b="0" i="0" u="none" strike="noStrike" dirty="0"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3346349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rm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500×</m:t>
                                </m:r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𝑐𝑜𝑒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+50×</m:t>
                                </m:r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</m:t>
                                </m:r>
                                <m:sSup>
                                  <m:sSupPr>
                                    <m:ctrlP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+10×</m:t>
                                </m:r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</m:t>
                                </m:r>
                                <m:sSup>
                                  <m:sSupPr>
                                    <m:ctrlP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1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 (Ω)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  <m:r>
                                  <m:rPr>
                                    <m:lit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𝑐𝑜𝑒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≤20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𝑟𝑚</m:t>
                                </m:r>
                                <m:r>
                                  <m:rPr>
                                    <m:lit/>
                                  </m:rP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𝑐𝑜𝑒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𝑖𝑛𝑡𝑒𝑔𝑒𝑟</m:t>
                                </m:r>
                              </m:oMath>
                            </m:oMathPara>
                          </a14:m>
                          <a:r>
                            <a:rPr lang="en-US" sz="1200" dirty="0" smtClean="0"/>
                            <a:t/>
                          </a:r>
                          <a:br>
                            <a:rPr lang="en-US" sz="1200" dirty="0" smtClean="0"/>
                          </a:br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6728278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cm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𝑓𝐹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sz="1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𝑐𝑚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en-US" sz="1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en-US" sz="1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𝑐𝑜𝑒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𝑓𝐹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  <m:r>
                                  <m:rPr>
                                    <m:lit/>
                                  </m:r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𝑐𝑜𝑒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≤20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𝑐𝑚</m:t>
                                </m:r>
                                <m:r>
                                  <m:rPr>
                                    <m:lit/>
                                  </m:rP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𝑐𝑜𝑒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𝑖𝑛𝑡𝑒𝑔𝑒𝑟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58207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Table 4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4989522"/>
                  </p:ext>
                </p:extLst>
              </p:nvPr>
            </p:nvGraphicFramePr>
            <p:xfrm>
              <a:off x="5686426" y="55923"/>
              <a:ext cx="6461654" cy="44168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1501">
                      <a:extLst>
                        <a:ext uri="{9D8B030D-6E8A-4147-A177-3AD203B41FA5}">
                          <a16:colId xmlns:a16="http://schemas.microsoft.com/office/drawing/2014/main" val="3869307847"/>
                        </a:ext>
                      </a:extLst>
                    </a:gridCol>
                    <a:gridCol w="1223703">
                      <a:extLst>
                        <a:ext uri="{9D8B030D-6E8A-4147-A177-3AD203B41FA5}">
                          <a16:colId xmlns:a16="http://schemas.microsoft.com/office/drawing/2014/main" val="2017250091"/>
                        </a:ext>
                      </a:extLst>
                    </a:gridCol>
                    <a:gridCol w="1190445">
                      <a:extLst>
                        <a:ext uri="{9D8B030D-6E8A-4147-A177-3AD203B41FA5}">
                          <a16:colId xmlns:a16="http://schemas.microsoft.com/office/drawing/2014/main" val="10685654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908304558"/>
                        </a:ext>
                      </a:extLst>
                    </a:gridCol>
                    <a:gridCol w="2391605">
                      <a:extLst>
                        <a:ext uri="{9D8B030D-6E8A-4147-A177-3AD203B41FA5}">
                          <a16:colId xmlns:a16="http://schemas.microsoft.com/office/drawing/2014/main" val="248091257"/>
                        </a:ext>
                      </a:extLst>
                    </a:gridCol>
                  </a:tblGrid>
                  <a:tr h="274320">
                    <a:tc gridSpan="5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Constraint</a:t>
                          </a:r>
                          <a:r>
                            <a:rPr lang="en-US" sz="1200" baseline="0" dirty="0" smtClean="0"/>
                            <a:t> of variable names</a:t>
                          </a:r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8910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Device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L (m)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Number of</a:t>
                          </a:r>
                          <a:r>
                            <a:rPr lang="en-US" sz="1000" b="1" baseline="0" dirty="0" smtClean="0"/>
                            <a:t> finger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Multiplier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Range</a:t>
                          </a:r>
                          <a:r>
                            <a:rPr lang="en-US" sz="1000" b="1" baseline="0" dirty="0" smtClean="0"/>
                            <a:t> of value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19115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MPP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stk_core_mpp</a:t>
                          </a:r>
                          <a:r>
                            <a:rPr lang="en-US" sz="1000" u="none" strike="noStrike" dirty="0" smtClean="0">
                              <a:effectLst/>
                            </a:rPr>
                            <a:t>*60n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fg_core_mpp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m_core_mpp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 rowSpan="9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29" t="-23636" r="-1018" b="-6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704097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stk_core_nd1*60n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fg_core_nd1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96195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MND2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61303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stk_core_n1*60n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85999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47910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MN3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stk_core_n3*60n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601338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22244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smtClean="0">
                              <a:effectLst/>
                            </a:rPr>
                            <a:t>stk_core_p3*60n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fg_core_p3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53633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854119"/>
                      </a:ext>
                    </a:extLst>
                  </a:tr>
                  <a:tr h="19240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2527" t="-1487500" r="-72711" b="-6875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29" t="-476000" r="-1018" b="-15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381721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ibp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2527" t="-747059" r="-72711" b="-22352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3346349"/>
                      </a:ext>
                    </a:extLst>
                  </a:tr>
                  <a:tr h="457264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rm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27" t="-768000" r="-72711" b="-102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29" t="-768000" r="-1018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672827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cm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27" t="-868000" r="-72711" b="-2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29" t="-868000" r="-1018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58207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778890" y="5078886"/>
                <a:ext cx="42767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**Note</a:t>
                </a:r>
                <a:r>
                  <a:rPr lang="en-US" dirty="0" smtClean="0"/>
                  <a:t>: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1=10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b="0" i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𝑝𝐹</m:t>
                    </m:r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890" y="5078886"/>
                <a:ext cx="4276725" cy="923330"/>
              </a:xfrm>
              <a:prstGeom prst="rect">
                <a:avLst/>
              </a:prstGeom>
              <a:blipFill>
                <a:blip r:embed="rId5"/>
                <a:stretch>
                  <a:fillRect l="-1140" t="-3289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774392" y="2390756"/>
            <a:ext cx="97235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UPDATE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6875" y="1199072"/>
            <a:ext cx="320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** </a:t>
            </a:r>
            <a:r>
              <a:rPr lang="en-US" b="1" dirty="0" smtClean="0">
                <a:solidFill>
                  <a:srgbClr val="FF0000"/>
                </a:solidFill>
              </a:rPr>
              <a:t>finger width = 200n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32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27" y="217695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Core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0" y="2819856"/>
            <a:ext cx="6648473" cy="3972305"/>
            <a:chOff x="137438" y="1256920"/>
            <a:chExt cx="9669224" cy="5449060"/>
          </a:xfrm>
        </p:grpSpPr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438" y="1256920"/>
              <a:ext cx="9669224" cy="5449060"/>
            </a:xfrm>
            <a:prstGeom prst="rect">
              <a:avLst/>
            </a:prstGeom>
          </p:spPr>
        </p:pic>
        <p:sp>
          <p:nvSpPr>
            <p:cNvPr id="96" name="Rounded Rectangle 95"/>
            <p:cNvSpPr/>
            <p:nvPr/>
          </p:nvSpPr>
          <p:spPr>
            <a:xfrm>
              <a:off x="4384931" y="1855580"/>
              <a:ext cx="2470742" cy="614422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835508" y="3820155"/>
              <a:ext cx="2589898" cy="685282"/>
            </a:xfrm>
            <a:prstGeom prst="roundRect">
              <a:avLst/>
            </a:prstGeom>
            <a:noFill/>
            <a:ln w="38100"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4242337" y="3214615"/>
              <a:ext cx="2613336" cy="538826"/>
            </a:xfrm>
            <a:prstGeom prst="roundRect">
              <a:avLst/>
            </a:prstGeom>
            <a:noFill/>
            <a:ln w="38100">
              <a:solidFill>
                <a:srgbClr val="92D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4198632" y="4401467"/>
              <a:ext cx="2643388" cy="563678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4242337" y="5720502"/>
              <a:ext cx="2623305" cy="563678"/>
            </a:xfrm>
            <a:prstGeom prst="roundRect">
              <a:avLst/>
            </a:prstGeom>
            <a:noFill/>
            <a:ln w="38100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1781862" y="5653445"/>
              <a:ext cx="767912" cy="637242"/>
            </a:xfrm>
            <a:prstGeom prst="roundRect">
              <a:avLst/>
            </a:prstGeom>
            <a:noFill/>
            <a:ln w="38100">
              <a:solidFill>
                <a:srgbClr val="CC24B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/>
            <p:cNvSpPr/>
            <p:nvPr/>
          </p:nvSpPr>
          <p:spPr>
            <a:xfrm>
              <a:off x="7343775" y="2401025"/>
              <a:ext cx="865545" cy="8554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Table 4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4792382"/>
                  </p:ext>
                </p:extLst>
              </p:nvPr>
            </p:nvGraphicFramePr>
            <p:xfrm>
              <a:off x="5686426" y="55923"/>
              <a:ext cx="6433687" cy="45906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5363">
                      <a:extLst>
                        <a:ext uri="{9D8B030D-6E8A-4147-A177-3AD203B41FA5}">
                          <a16:colId xmlns:a16="http://schemas.microsoft.com/office/drawing/2014/main" val="3869307847"/>
                        </a:ext>
                      </a:extLst>
                    </a:gridCol>
                    <a:gridCol w="1242203">
                      <a:extLst>
                        <a:ext uri="{9D8B030D-6E8A-4147-A177-3AD203B41FA5}">
                          <a16:colId xmlns:a16="http://schemas.microsoft.com/office/drawing/2014/main" val="2017250091"/>
                        </a:ext>
                      </a:extLst>
                    </a:gridCol>
                    <a:gridCol w="879895">
                      <a:extLst>
                        <a:ext uri="{9D8B030D-6E8A-4147-A177-3AD203B41FA5}">
                          <a16:colId xmlns:a16="http://schemas.microsoft.com/office/drawing/2014/main" val="10685654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908304558"/>
                        </a:ext>
                      </a:extLst>
                    </a:gridCol>
                    <a:gridCol w="2751826">
                      <a:extLst>
                        <a:ext uri="{9D8B030D-6E8A-4147-A177-3AD203B41FA5}">
                          <a16:colId xmlns:a16="http://schemas.microsoft.com/office/drawing/2014/main" val="857372553"/>
                        </a:ext>
                      </a:extLst>
                    </a:gridCol>
                  </a:tblGrid>
                  <a:tr h="202127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Schematic</a:t>
                          </a:r>
                          <a:r>
                            <a:rPr lang="en-US" sz="1200" baseline="0" dirty="0" smtClean="0"/>
                            <a:t> </a:t>
                          </a:r>
                          <a:r>
                            <a:rPr lang="en-US" sz="1200" baseline="0" dirty="0" err="1" smtClean="0"/>
                            <a:t>config</a:t>
                          </a:r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Modify</a:t>
                          </a:r>
                          <a:r>
                            <a:rPr lang="en-US" sz="1200" baseline="0" dirty="0" smtClean="0"/>
                            <a:t> in python</a:t>
                          </a:r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891084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Device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L (m)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Number of</a:t>
                          </a:r>
                          <a:r>
                            <a:rPr lang="en-US" sz="1000" b="1" baseline="0" dirty="0" smtClean="0"/>
                            <a:t> finger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Multiplier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191153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MPP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stk_core_mpp</a:t>
                          </a:r>
                          <a:r>
                            <a:rPr lang="en-US" sz="1000" u="none" strike="noStrike" dirty="0" smtClean="0">
                              <a:effectLst/>
                            </a:rPr>
                            <a:t>*60n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fg_core_mpp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m_core_mpp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7040971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stk_core_nd1*60n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fg_core_nd1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9619599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MND2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6130336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stk_core_n1*60n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859994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479107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MN3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stk_core_n3*60n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6013385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2224438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smtClean="0">
                              <a:effectLst/>
                            </a:rPr>
                            <a:t>stk_core_p3*60n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fg_core_p3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536332"/>
                      </a:ext>
                    </a:extLst>
                  </a:tr>
                  <a:tr h="20212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854119"/>
                      </a:ext>
                    </a:extLst>
                  </a:tr>
                  <a:tr h="18181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𝑖𝑏𝑛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𝑐𝑜𝑒</m:t>
                                </m:r>
                              </m:oMath>
                            </m:oMathPara>
                          </a14:m>
                          <a:endParaRPr lang="en-US" sz="1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b="0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-</a:t>
                          </a:r>
                          <a:endParaRPr lang="en-US" sz="1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93381721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ibp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𝑖𝑏𝑝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𝑐𝑜𝑒</m:t>
                                </m:r>
                              </m:oMath>
                            </m:oMathPara>
                          </a14:m>
                          <a:endParaRPr lang="en-US" sz="1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b="0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-</a:t>
                          </a:r>
                          <a:endParaRPr lang="en-US" sz="1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3346349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rm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𝒓𝒎</m:t>
                                </m:r>
                              </m:oMath>
                            </m:oMathPara>
                          </a14:m>
                          <a:endParaRPr lang="en-US" sz="1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𝒓𝒎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=500×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𝒓𝒎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𝒄𝒐𝒆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+50×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𝒓𝒎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𝒄𝒐</m:t>
                                </m:r>
                                <m:sSup>
                                  <m:sSupPr>
                                    <m:ctrlPr>
                                      <a:rPr lang="en-US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+10×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𝒓𝒎</m:t>
                                </m:r>
                                <m:r>
                                  <m:rPr>
                                    <m:lit/>
                                  </m:rP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𝒄𝒐</m:t>
                                </m:r>
                                <m:sSup>
                                  <m:sSupPr>
                                    <m:ctrlPr>
                                      <a:rPr lang="en-US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n-US" sz="1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6728278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cm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𝒄𝒎</m:t>
                                </m:r>
                              </m:oMath>
                            </m:oMathPara>
                          </a14:m>
                          <a:endParaRPr lang="en-US" sz="1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𝒄𝒎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p>
                                  <m:sSupPr>
                                    <m:ctrlP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sz="1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𝒄𝒎</m:t>
                                        </m:r>
                                        <m:r>
                                          <m:rPr>
                                            <m:lit/>
                                          </m:rPr>
                                          <a:rPr lang="en-US" sz="1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en-US" sz="10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𝒄𝒐𝒆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58207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Table 4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4792382"/>
                  </p:ext>
                </p:extLst>
              </p:nvPr>
            </p:nvGraphicFramePr>
            <p:xfrm>
              <a:off x="5686426" y="55923"/>
              <a:ext cx="6433687" cy="45906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5363">
                      <a:extLst>
                        <a:ext uri="{9D8B030D-6E8A-4147-A177-3AD203B41FA5}">
                          <a16:colId xmlns:a16="http://schemas.microsoft.com/office/drawing/2014/main" val="3869307847"/>
                        </a:ext>
                      </a:extLst>
                    </a:gridCol>
                    <a:gridCol w="1242203">
                      <a:extLst>
                        <a:ext uri="{9D8B030D-6E8A-4147-A177-3AD203B41FA5}">
                          <a16:colId xmlns:a16="http://schemas.microsoft.com/office/drawing/2014/main" val="2017250091"/>
                        </a:ext>
                      </a:extLst>
                    </a:gridCol>
                    <a:gridCol w="879895">
                      <a:extLst>
                        <a:ext uri="{9D8B030D-6E8A-4147-A177-3AD203B41FA5}">
                          <a16:colId xmlns:a16="http://schemas.microsoft.com/office/drawing/2014/main" val="10685654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908304558"/>
                        </a:ext>
                      </a:extLst>
                    </a:gridCol>
                    <a:gridCol w="2751826">
                      <a:extLst>
                        <a:ext uri="{9D8B030D-6E8A-4147-A177-3AD203B41FA5}">
                          <a16:colId xmlns:a16="http://schemas.microsoft.com/office/drawing/2014/main" val="857372553"/>
                        </a:ext>
                      </a:extLst>
                    </a:gridCol>
                  </a:tblGrid>
                  <a:tr h="27432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Schematic</a:t>
                          </a:r>
                          <a:r>
                            <a:rPr lang="en-US" sz="1200" baseline="0" dirty="0" smtClean="0"/>
                            <a:t> </a:t>
                          </a:r>
                          <a:r>
                            <a:rPr lang="en-US" sz="1200" baseline="0" dirty="0" err="1" smtClean="0"/>
                            <a:t>config</a:t>
                          </a:r>
                          <a:endParaRPr lang="en-US" sz="12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Modify</a:t>
                          </a:r>
                          <a:r>
                            <a:rPr lang="en-US" sz="1200" baseline="0" dirty="0" smtClean="0"/>
                            <a:t> in python</a:t>
                          </a:r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989108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 smtClean="0"/>
                            <a:t>Device</a:t>
                          </a:r>
                          <a:endParaRPr lang="en-US" sz="12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L (m)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Number of</a:t>
                          </a:r>
                          <a:r>
                            <a:rPr lang="en-US" sz="1000" b="1" baseline="0" dirty="0" smtClean="0"/>
                            <a:t> finger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1" dirty="0" smtClean="0"/>
                            <a:t>Multiplier</a:t>
                          </a:r>
                          <a:endParaRPr lang="en-US" sz="10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0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219115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MPP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stk_core_mpp</a:t>
                          </a:r>
                          <a:r>
                            <a:rPr lang="en-US" sz="1000" u="none" strike="noStrike" dirty="0" smtClean="0">
                              <a:effectLst/>
                            </a:rPr>
                            <a:t>*60n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fg_core_mpp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u="none" strike="noStrike" dirty="0" err="1" smtClean="0">
                              <a:effectLst/>
                            </a:rPr>
                            <a:t>m_core_mpp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-</a:t>
                          </a:r>
                          <a:endParaRPr lang="en-US" sz="10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704097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stk_core_nd1*60n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fg_core_nd1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961959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MND2</a:t>
                          </a:r>
                          <a:endParaRPr lang="en-US" sz="12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61303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MN1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stk_core_n1*60n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385999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MN2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047910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MN3</a:t>
                          </a:r>
                          <a:endParaRPr lang="en-US" sz="12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stk_core_n3*60n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fg_core_n3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601338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 smtClean="0">
                              <a:effectLst/>
                            </a:rPr>
                            <a:t>MN4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2224438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MP3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smtClean="0">
                              <a:effectLst/>
                            </a:rPr>
                            <a:t>stk_core_p3*60n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row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 smtClean="0">
                              <a:effectLst/>
                            </a:rPr>
                            <a:t>fg_core_p3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753633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u="none" strike="noStrike" dirty="0">
                              <a:effectLst/>
                            </a:rPr>
                            <a:t>MP4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1</a:t>
                          </a:r>
                          <a:endParaRPr 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dirty="0" smtClean="0"/>
                            <a:t>-</a:t>
                          </a:r>
                          <a:endParaRPr lang="en-US" sz="1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03854119"/>
                      </a:ext>
                    </a:extLst>
                  </a:tr>
                  <a:tr h="19240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ibn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1443" t="-1603226" r="-91383" b="-73871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b="0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-</a:t>
                          </a:r>
                          <a:endParaRPr lang="en-US" sz="1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993381721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ibp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1443" t="-776471" r="-91383" b="-23676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b="0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-</a:t>
                          </a:r>
                          <a:endParaRPr lang="en-US" sz="1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3346349"/>
                      </a:ext>
                    </a:extLst>
                  </a:tr>
                  <a:tr h="552006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rm</a:t>
                          </a:r>
                          <a:endParaRPr lang="en-US" sz="12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43" t="-654945" r="-91383" b="-769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4071" t="-654945" r="-885" b="-7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6728278"/>
                      </a:ext>
                    </a:extLst>
                  </a:tr>
                  <a:tr h="414348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cm</a:t>
                          </a:r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43" t="-1010294" r="-91383" b="-294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4071" t="-1010294" r="-885" b="-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58207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778890" y="5078886"/>
                <a:ext cx="427672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**Note</a:t>
                </a:r>
                <a:r>
                  <a:rPr lang="en-US" dirty="0" smtClean="0"/>
                  <a:t>: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1=10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b="0" i="1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b="1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𝑝𝐹</m:t>
                    </m:r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890" y="5078886"/>
                <a:ext cx="4276725" cy="923330"/>
              </a:xfrm>
              <a:prstGeom prst="rect">
                <a:avLst/>
              </a:prstGeom>
              <a:blipFill>
                <a:blip r:embed="rId5"/>
                <a:stretch>
                  <a:fillRect l="-1140" t="-3289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324236" y="1119688"/>
            <a:ext cx="97235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UPDATE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75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503" y="112836"/>
            <a:ext cx="5229955" cy="15242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example</a:t>
            </a: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5" y="2268971"/>
            <a:ext cx="11816063" cy="45446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687147" y="3411974"/>
            <a:ext cx="2159648" cy="642441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195947" y="3517750"/>
            <a:ext cx="1039623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stk_core_p3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fp_core_p3</a:t>
            </a:r>
            <a:endParaRPr lang="en-US" sz="1100" dirty="0" smtClean="0"/>
          </a:p>
        </p:txBody>
      </p:sp>
      <p:sp>
        <p:nvSpPr>
          <p:cNvPr id="10" name="Rounded Rectangle 9"/>
          <p:cNvSpPr/>
          <p:nvPr/>
        </p:nvSpPr>
        <p:spPr>
          <a:xfrm>
            <a:off x="1552476" y="4707861"/>
            <a:ext cx="2309357" cy="638765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88907" y="4116783"/>
            <a:ext cx="1039623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stk_core_nd1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fp_core_nd1</a:t>
            </a:r>
            <a:endParaRPr lang="en-US" sz="1100" dirty="0" smtClean="0"/>
          </a:p>
        </p:txBody>
      </p:sp>
      <p:cxnSp>
        <p:nvCxnSpPr>
          <p:cNvPr id="12" name="Straight Arrow Connector 11"/>
          <p:cNvCxnSpPr>
            <a:stCxn id="10" idx="0"/>
            <a:endCxn id="11" idx="2"/>
          </p:cNvCxnSpPr>
          <p:nvPr/>
        </p:nvCxnSpPr>
        <p:spPr>
          <a:xfrm flipH="1" flipV="1">
            <a:off x="2408719" y="4547670"/>
            <a:ext cx="298436" cy="16019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" idx="1"/>
            <a:endCxn id="6" idx="3"/>
          </p:cNvCxnSpPr>
          <p:nvPr/>
        </p:nvCxnSpPr>
        <p:spPr>
          <a:xfrm flipH="1" flipV="1">
            <a:off x="4235570" y="3733194"/>
            <a:ext cx="451577" cy="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57299" y="89605"/>
            <a:ext cx="3921357" cy="276999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Total length = </a:t>
            </a:r>
            <a:r>
              <a:rPr lang="en-US" sz="1200" dirty="0" err="1" smtClean="0"/>
              <a:t>stk</a:t>
            </a:r>
            <a:r>
              <a:rPr lang="en-US" sz="1200" dirty="0" smtClean="0"/>
              <a:t> * 60n (</a:t>
            </a:r>
            <a:r>
              <a:rPr lang="en-US" sz="1200" dirty="0" err="1" smtClean="0"/>
              <a:t>stk</a:t>
            </a:r>
            <a:r>
              <a:rPr lang="en-US" sz="1200" dirty="0" smtClean="0"/>
              <a:t> is integer number (1, 2, …)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2129" y="129271"/>
            <a:ext cx="2256611" cy="217933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9867180" y="400071"/>
            <a:ext cx="2261560" cy="231712"/>
          </a:xfrm>
          <a:prstGeom prst="roundRect">
            <a:avLst/>
          </a:prstGeom>
          <a:noFill/>
          <a:ln w="19050">
            <a:solidFill>
              <a:srgbClr val="CC24B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stCxn id="22" idx="1"/>
            <a:endCxn id="24" idx="3"/>
          </p:cNvCxnSpPr>
          <p:nvPr/>
        </p:nvCxnSpPr>
        <p:spPr>
          <a:xfrm flipH="1">
            <a:off x="6846795" y="515927"/>
            <a:ext cx="3020385" cy="36424"/>
          </a:xfrm>
          <a:prstGeom prst="straightConnector1">
            <a:avLst/>
          </a:prstGeom>
          <a:ln w="19050">
            <a:solidFill>
              <a:srgbClr val="CC24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10814" y="421546"/>
            <a:ext cx="1135981" cy="261610"/>
          </a:xfrm>
          <a:prstGeom prst="rect">
            <a:avLst/>
          </a:prstGeom>
          <a:noFill/>
          <a:ln w="19050">
            <a:solidFill>
              <a:srgbClr val="CC24B4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Min finger width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67180" y="894597"/>
            <a:ext cx="2261560" cy="199355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stCxn id="25" idx="1"/>
            <a:endCxn id="27" idx="3"/>
          </p:cNvCxnSpPr>
          <p:nvPr/>
        </p:nvCxnSpPr>
        <p:spPr>
          <a:xfrm flipH="1">
            <a:off x="7026850" y="994275"/>
            <a:ext cx="2840330" cy="62961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90869" y="1323804"/>
            <a:ext cx="1135981" cy="60016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 smtClean="0"/>
              <a:t>n.o</a:t>
            </a:r>
            <a:r>
              <a:rPr lang="en-US" sz="1100" dirty="0" smtClean="0"/>
              <a:t> fingers, *0.5 means we want 60n per step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67180" y="1168869"/>
            <a:ext cx="2261560" cy="178763"/>
          </a:xfrm>
          <a:prstGeom prst="round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stCxn id="28" idx="1"/>
            <a:endCxn id="30" idx="3"/>
          </p:cNvCxnSpPr>
          <p:nvPr/>
        </p:nvCxnSpPr>
        <p:spPr>
          <a:xfrm flipH="1">
            <a:off x="9302887" y="1258251"/>
            <a:ext cx="564293" cy="67222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166906" y="1715031"/>
            <a:ext cx="1135981" cy="43088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Keep multi=1, </a:t>
            </a:r>
            <a:r>
              <a:rPr lang="en-US" sz="1100" dirty="0" smtClean="0">
                <a:solidFill>
                  <a:srgbClr val="FF0000"/>
                </a:solidFill>
              </a:rPr>
              <a:t>except MPP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67180" y="649979"/>
            <a:ext cx="2261560" cy="180061"/>
          </a:xfrm>
          <a:prstGeom prst="roundRect">
            <a:avLst/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31" idx="1"/>
            <a:endCxn id="33" idx="3"/>
          </p:cNvCxnSpPr>
          <p:nvPr/>
        </p:nvCxnSpPr>
        <p:spPr>
          <a:xfrm flipH="1">
            <a:off x="6879732" y="740010"/>
            <a:ext cx="2987448" cy="269919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43751" y="794485"/>
            <a:ext cx="1135981" cy="43088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Automatically adjust</a:t>
            </a:r>
          </a:p>
        </p:txBody>
      </p:sp>
      <p:cxnSp>
        <p:nvCxnSpPr>
          <p:cNvPr id="63" name="Straight Arrow Connector 62"/>
          <p:cNvCxnSpPr>
            <a:stCxn id="20" idx="1"/>
            <a:endCxn id="19" idx="3"/>
          </p:cNvCxnSpPr>
          <p:nvPr/>
        </p:nvCxnSpPr>
        <p:spPr>
          <a:xfrm flipH="1" flipV="1">
            <a:off x="9378656" y="228105"/>
            <a:ext cx="493473" cy="10133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4747351" y="4766849"/>
            <a:ext cx="2159648" cy="642441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ounded Rectangle 86"/>
          <p:cNvSpPr/>
          <p:nvPr/>
        </p:nvSpPr>
        <p:spPr>
          <a:xfrm>
            <a:off x="4717505" y="5886784"/>
            <a:ext cx="2159648" cy="626159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7440165" y="4978403"/>
            <a:ext cx="1039623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stk_core_n1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fp_core_n1</a:t>
            </a:r>
            <a:endParaRPr lang="en-US" sz="1100" dirty="0" smtClean="0"/>
          </a:p>
        </p:txBody>
      </p:sp>
      <p:cxnSp>
        <p:nvCxnSpPr>
          <p:cNvPr id="92" name="Straight Arrow Connector 91"/>
          <p:cNvCxnSpPr>
            <a:stCxn id="86" idx="3"/>
            <a:endCxn id="91" idx="1"/>
          </p:cNvCxnSpPr>
          <p:nvPr/>
        </p:nvCxnSpPr>
        <p:spPr>
          <a:xfrm>
            <a:off x="6906999" y="5088070"/>
            <a:ext cx="533166" cy="105777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440165" y="6050269"/>
            <a:ext cx="1039623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stk_core_n3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fp_core_n3</a:t>
            </a:r>
            <a:endParaRPr lang="en-US" sz="1100" dirty="0" smtClean="0"/>
          </a:p>
        </p:txBody>
      </p:sp>
      <p:cxnSp>
        <p:nvCxnSpPr>
          <p:cNvPr id="100" name="Straight Arrow Connector 99"/>
          <p:cNvCxnSpPr>
            <a:stCxn id="87" idx="3"/>
            <a:endCxn id="99" idx="1"/>
          </p:cNvCxnSpPr>
          <p:nvPr/>
        </p:nvCxnSpPr>
        <p:spPr>
          <a:xfrm>
            <a:off x="6877153" y="6199864"/>
            <a:ext cx="563012" cy="65849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8729931" y="4876516"/>
            <a:ext cx="648725" cy="1532910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9618706" y="5175078"/>
            <a:ext cx="670311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Fixed value</a:t>
            </a:r>
          </a:p>
        </p:txBody>
      </p:sp>
      <p:cxnSp>
        <p:nvCxnSpPr>
          <p:cNvPr id="104" name="Straight Arrow Connector 103"/>
          <p:cNvCxnSpPr>
            <a:stCxn id="102" idx="3"/>
            <a:endCxn id="103" idx="1"/>
          </p:cNvCxnSpPr>
          <p:nvPr/>
        </p:nvCxnSpPr>
        <p:spPr>
          <a:xfrm flipV="1">
            <a:off x="9378656" y="5390522"/>
            <a:ext cx="240050" cy="252449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109" idx="1"/>
            <a:endCxn id="103" idx="3"/>
          </p:cNvCxnSpPr>
          <p:nvPr/>
        </p:nvCxnSpPr>
        <p:spPr>
          <a:xfrm flipH="1" flipV="1">
            <a:off x="10289017" y="5390522"/>
            <a:ext cx="316556" cy="382723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10605573" y="5346626"/>
            <a:ext cx="695031" cy="853238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ounded Rectangle 115"/>
          <p:cNvSpPr/>
          <p:nvPr/>
        </p:nvSpPr>
        <p:spPr>
          <a:xfrm>
            <a:off x="8511715" y="3837022"/>
            <a:ext cx="791172" cy="642441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7853644" y="2972056"/>
            <a:ext cx="1039623" cy="600164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</a:rPr>
              <a:t>stk_core_mpp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fp_core_mpp</a:t>
            </a:r>
            <a:br>
              <a:rPr lang="en-US" sz="1100" smtClean="0">
                <a:solidFill>
                  <a:schemeClr val="bg1"/>
                </a:solidFill>
              </a:rPr>
            </a:br>
            <a:r>
              <a:rPr lang="en-US" sz="1100" smtClean="0">
                <a:solidFill>
                  <a:schemeClr val="bg1"/>
                </a:solidFill>
              </a:rPr>
              <a:t>m_core_mpp</a:t>
            </a:r>
            <a:endParaRPr lang="en-US" sz="1100" dirty="0" smtClean="0"/>
          </a:p>
        </p:txBody>
      </p:sp>
      <p:cxnSp>
        <p:nvCxnSpPr>
          <p:cNvPr id="118" name="Straight Arrow Connector 117"/>
          <p:cNvCxnSpPr>
            <a:stCxn id="116" idx="0"/>
            <a:endCxn id="117" idx="2"/>
          </p:cNvCxnSpPr>
          <p:nvPr/>
        </p:nvCxnSpPr>
        <p:spPr>
          <a:xfrm flipH="1" flipV="1">
            <a:off x="8373456" y="3572220"/>
            <a:ext cx="533845" cy="264802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6967680" y="4301916"/>
            <a:ext cx="1405776" cy="42925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7269780" y="4193378"/>
            <a:ext cx="46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rm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058195" y="4181716"/>
            <a:ext cx="46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en-US" dirty="0" smtClean="0">
                <a:solidFill>
                  <a:schemeClr val="bg1"/>
                </a:solidFill>
              </a:rPr>
              <a:t>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2557937" y="5858149"/>
            <a:ext cx="720101" cy="626159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ounded Rectangle 127"/>
          <p:cNvSpPr/>
          <p:nvPr/>
        </p:nvSpPr>
        <p:spPr>
          <a:xfrm>
            <a:off x="4803909" y="2547069"/>
            <a:ext cx="2103090" cy="617676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/>
          <p:cNvSpPr txBox="1"/>
          <p:nvPr/>
        </p:nvSpPr>
        <p:spPr>
          <a:xfrm>
            <a:off x="5604504" y="2573614"/>
            <a:ext cx="58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ibp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814831" y="5830531"/>
            <a:ext cx="58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ibn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26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2" y="906294"/>
            <a:ext cx="11988878" cy="554834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305592" y="2041640"/>
            <a:ext cx="902770" cy="22710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65969" y="2867538"/>
            <a:ext cx="1039623" cy="769441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Should use the same instance name of example</a:t>
            </a:r>
            <a:endParaRPr lang="en-US" sz="1100" dirty="0" smtClean="0"/>
          </a:p>
        </p:txBody>
      </p:sp>
      <p:cxnSp>
        <p:nvCxnSpPr>
          <p:cNvPr id="51" name="Straight Arrow Connector 50"/>
          <p:cNvCxnSpPr>
            <a:stCxn id="49" idx="1"/>
            <a:endCxn id="50" idx="0"/>
          </p:cNvCxnSpPr>
          <p:nvPr/>
        </p:nvCxnSpPr>
        <p:spPr>
          <a:xfrm flipH="1">
            <a:off x="785781" y="2155194"/>
            <a:ext cx="519811" cy="71234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199200" y="4902734"/>
            <a:ext cx="902770" cy="22710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56" idx="1"/>
            <a:endCxn id="50" idx="2"/>
          </p:cNvCxnSpPr>
          <p:nvPr/>
        </p:nvCxnSpPr>
        <p:spPr>
          <a:xfrm flipH="1" flipV="1">
            <a:off x="785781" y="3636979"/>
            <a:ext cx="413419" cy="1379309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951472" y="2501661"/>
            <a:ext cx="3013366" cy="1630392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9954882" y="3762721"/>
            <a:ext cx="123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DC source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458862" y="2049701"/>
            <a:ext cx="2225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VDD source: DC=</a:t>
            </a:r>
            <a:r>
              <a:rPr lang="en-US" sz="1200" dirty="0" err="1" smtClean="0">
                <a:solidFill>
                  <a:schemeClr val="bg1"/>
                </a:solidFill>
              </a:rPr>
              <a:t>vddval</a:t>
            </a:r>
            <a:r>
              <a:rPr lang="en-US" sz="1200" dirty="0" smtClean="0">
                <a:solidFill>
                  <a:schemeClr val="bg1"/>
                </a:solidFill>
              </a:rPr>
              <a:t>  AC=1</a:t>
            </a:r>
            <a:br>
              <a:rPr lang="en-US" sz="1200" dirty="0" smtClean="0">
                <a:solidFill>
                  <a:schemeClr val="bg1"/>
                </a:solidFill>
              </a:rPr>
            </a:br>
            <a:r>
              <a:rPr lang="en-US" sz="1200" dirty="0" smtClean="0">
                <a:solidFill>
                  <a:schemeClr val="bg1"/>
                </a:solidFill>
              </a:rPr>
              <a:t>VREF source: DC=</a:t>
            </a:r>
            <a:r>
              <a:rPr lang="en-US" sz="1200" dirty="0" err="1" smtClean="0">
                <a:solidFill>
                  <a:schemeClr val="bg1"/>
                </a:solidFill>
              </a:rPr>
              <a:t>vrefval</a:t>
            </a:r>
            <a:r>
              <a:rPr lang="en-US" sz="1200" dirty="0" smtClean="0">
                <a:solidFill>
                  <a:schemeClr val="bg1"/>
                </a:solidFill>
              </a:rPr>
              <a:t> AC=0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136809" y="4441069"/>
            <a:ext cx="2225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Offset = 0.1*</a:t>
            </a:r>
            <a:r>
              <a:rPr lang="en-US" dirty="0" err="1" smtClean="0">
                <a:solidFill>
                  <a:schemeClr val="bg1"/>
                </a:solidFill>
              </a:rPr>
              <a:t>vddval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err="1" smtClean="0">
                <a:solidFill>
                  <a:schemeClr val="bg1"/>
                </a:solidFill>
              </a:rPr>
              <a:t>min_load</a:t>
            </a:r>
            <a:r>
              <a:rPr lang="en-US" dirty="0" smtClean="0">
                <a:solidFill>
                  <a:schemeClr val="bg1"/>
                </a:solidFill>
              </a:rPr>
              <a:t> = 8000 ohm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err="1" smtClean="0">
                <a:solidFill>
                  <a:schemeClr val="bg1"/>
                </a:solidFill>
              </a:rPr>
              <a:t>max_load</a:t>
            </a:r>
            <a:r>
              <a:rPr lang="en-US" dirty="0" smtClean="0">
                <a:solidFill>
                  <a:schemeClr val="bg1"/>
                </a:solidFill>
              </a:rPr>
              <a:t> = 16 ohm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736" y="5383408"/>
            <a:ext cx="2029108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0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2" y="906294"/>
            <a:ext cx="11988878" cy="554834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305592" y="2041640"/>
            <a:ext cx="902770" cy="22710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65969" y="2867538"/>
            <a:ext cx="1039623" cy="769441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Should use the same instance name of example</a:t>
            </a:r>
            <a:endParaRPr lang="en-US" sz="1100" dirty="0" smtClean="0"/>
          </a:p>
        </p:txBody>
      </p:sp>
      <p:cxnSp>
        <p:nvCxnSpPr>
          <p:cNvPr id="51" name="Straight Arrow Connector 50"/>
          <p:cNvCxnSpPr>
            <a:stCxn id="49" idx="1"/>
            <a:endCxn id="50" idx="0"/>
          </p:cNvCxnSpPr>
          <p:nvPr/>
        </p:nvCxnSpPr>
        <p:spPr>
          <a:xfrm flipH="1">
            <a:off x="785781" y="2155194"/>
            <a:ext cx="519811" cy="71234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199200" y="4902734"/>
            <a:ext cx="902770" cy="22710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56" idx="1"/>
            <a:endCxn id="50" idx="2"/>
          </p:cNvCxnSpPr>
          <p:nvPr/>
        </p:nvCxnSpPr>
        <p:spPr>
          <a:xfrm flipH="1" flipV="1">
            <a:off x="785781" y="3636979"/>
            <a:ext cx="413419" cy="1379309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152" y="284672"/>
            <a:ext cx="2612894" cy="30687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3153" y="3403563"/>
            <a:ext cx="2612894" cy="305969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31320" y="5538213"/>
            <a:ext cx="750371" cy="681432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16" idx="0"/>
          </p:cNvCxnSpPr>
          <p:nvPr/>
        </p:nvCxnSpPr>
        <p:spPr>
          <a:xfrm flipV="1">
            <a:off x="8406506" y="4933412"/>
            <a:ext cx="686646" cy="60480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949947" y="1243798"/>
            <a:ext cx="742823" cy="266396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stCxn id="24" idx="3"/>
            <a:endCxn id="34" idx="1"/>
          </p:cNvCxnSpPr>
          <p:nvPr/>
        </p:nvCxnSpPr>
        <p:spPr>
          <a:xfrm flipV="1">
            <a:off x="4692770" y="1819052"/>
            <a:ext cx="4400382" cy="756730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337053" y="2511366"/>
            <a:ext cx="871309" cy="758045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>
            <a:stCxn id="29" idx="3"/>
            <a:endCxn id="35" idx="0"/>
          </p:cNvCxnSpPr>
          <p:nvPr/>
        </p:nvCxnSpPr>
        <p:spPr>
          <a:xfrm>
            <a:off x="2208362" y="2890389"/>
            <a:ext cx="893299" cy="128453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59767" y="3018842"/>
            <a:ext cx="1483788" cy="600164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Lib: </a:t>
            </a:r>
            <a:r>
              <a:rPr lang="en-US" sz="1100" dirty="0" err="1" smtClean="0">
                <a:solidFill>
                  <a:schemeClr val="bg1"/>
                </a:solidFill>
              </a:rPr>
              <a:t>analigLib</a:t>
            </a:r>
            <a:r>
              <a:rPr lang="en-US" sz="1100" dirty="0" smtClean="0">
                <a:solidFill>
                  <a:schemeClr val="bg1"/>
                </a:solidFill>
              </a:rPr>
              <a:t/>
            </a:r>
            <a:br>
              <a:rPr lang="en-US" sz="1100" dirty="0" smtClean="0">
                <a:solidFill>
                  <a:schemeClr val="bg1"/>
                </a:solidFill>
              </a:rPr>
            </a:br>
            <a:r>
              <a:rPr lang="en-US" sz="1100" dirty="0" smtClean="0">
                <a:solidFill>
                  <a:schemeClr val="bg1"/>
                </a:solidFill>
              </a:rPr>
              <a:t>cell name: </a:t>
            </a:r>
            <a:r>
              <a:rPr lang="en-US" sz="1100" dirty="0" err="1" smtClean="0">
                <a:solidFill>
                  <a:schemeClr val="bg1"/>
                </a:solidFill>
              </a:rPr>
              <a:t>iprobe</a:t>
            </a:r>
            <a:r>
              <a:rPr lang="en-US" sz="1100" dirty="0" smtClean="0">
                <a:solidFill>
                  <a:schemeClr val="bg1"/>
                </a:solidFill>
              </a:rPr>
              <a:t/>
            </a:r>
            <a:br>
              <a:rPr lang="en-US" sz="1100" dirty="0" smtClean="0">
                <a:solidFill>
                  <a:schemeClr val="bg1"/>
                </a:solidFill>
              </a:rPr>
            </a:br>
            <a:r>
              <a:rPr lang="en-US" sz="1100" dirty="0" smtClean="0">
                <a:solidFill>
                  <a:schemeClr val="bg1"/>
                </a:solidFill>
              </a:rPr>
              <a:t>instance name: </a:t>
            </a:r>
            <a:r>
              <a:rPr lang="en-US" sz="1100" b="1" dirty="0" smtClean="0">
                <a:solidFill>
                  <a:schemeClr val="bg1"/>
                </a:solidFill>
              </a:rPr>
              <a:t>IPRB0</a:t>
            </a:r>
            <a:endParaRPr lang="en-US" sz="1100" b="1" dirty="0" smtClean="0"/>
          </a:p>
        </p:txBody>
      </p:sp>
    </p:spTree>
    <p:extLst>
      <p:ext uri="{BB962C8B-B14F-4D97-AF65-F5344CB8AC3E}">
        <p14:creationId xmlns:p14="http://schemas.microsoft.com/office/powerpoint/2010/main" val="91587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2" y="906294"/>
            <a:ext cx="11988878" cy="554834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05708" y="1029192"/>
            <a:ext cx="3432842" cy="226645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180494" y="3464926"/>
            <a:ext cx="1886681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Used to check DCOP and AC of </a:t>
            </a:r>
            <a:r>
              <a:rPr lang="en-US" sz="1100" dirty="0" err="1" smtClean="0">
                <a:solidFill>
                  <a:schemeClr val="bg1"/>
                </a:solidFill>
              </a:rPr>
              <a:t>max_load</a:t>
            </a:r>
            <a:r>
              <a:rPr lang="en-US" sz="1100" dirty="0" smtClean="0">
                <a:solidFill>
                  <a:schemeClr val="bg1"/>
                </a:solidFill>
              </a:rPr>
              <a:t> verification</a:t>
            </a:r>
            <a:endParaRPr lang="en-US" sz="1100" dirty="0" smtClean="0"/>
          </a:p>
        </p:txBody>
      </p:sp>
      <p:cxnSp>
        <p:nvCxnSpPr>
          <p:cNvPr id="16" name="Straight Arrow Connector 15"/>
          <p:cNvCxnSpPr>
            <a:stCxn id="14" idx="2"/>
            <a:endCxn id="15" idx="1"/>
          </p:cNvCxnSpPr>
          <p:nvPr/>
        </p:nvCxnSpPr>
        <p:spPr>
          <a:xfrm>
            <a:off x="1922129" y="3295649"/>
            <a:ext cx="258365" cy="38472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05708" y="4034280"/>
            <a:ext cx="3432842" cy="226645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067175" y="4369804"/>
            <a:ext cx="1886681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Used to check DCOP and PSR of </a:t>
            </a:r>
            <a:r>
              <a:rPr lang="en-US" sz="1100" dirty="0" err="1" smtClean="0">
                <a:solidFill>
                  <a:schemeClr val="bg1"/>
                </a:solidFill>
              </a:rPr>
              <a:t>min_load</a:t>
            </a:r>
            <a:r>
              <a:rPr lang="en-US" sz="1100" dirty="0" smtClean="0">
                <a:solidFill>
                  <a:schemeClr val="bg1"/>
                </a:solidFill>
              </a:rPr>
              <a:t> verification</a:t>
            </a:r>
            <a:endParaRPr lang="en-US" sz="1100" dirty="0" smtClean="0"/>
          </a:p>
        </p:txBody>
      </p:sp>
      <p:cxnSp>
        <p:nvCxnSpPr>
          <p:cNvPr id="27" name="Straight Arrow Connector 26"/>
          <p:cNvCxnSpPr>
            <a:stCxn id="25" idx="3"/>
            <a:endCxn id="26" idx="1"/>
          </p:cNvCxnSpPr>
          <p:nvPr/>
        </p:nvCxnSpPr>
        <p:spPr>
          <a:xfrm flipV="1">
            <a:off x="3638550" y="4585248"/>
            <a:ext cx="428625" cy="582261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756477" y="1291016"/>
            <a:ext cx="3674269" cy="2909510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9088932" y="1398736"/>
            <a:ext cx="2019369" cy="769441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Used to check LINE REGULATION and VOUT_ERR for both min &amp; max load verification</a:t>
            </a:r>
            <a:endParaRPr lang="en-US" sz="1100" dirty="0" smtClean="0"/>
          </a:p>
        </p:txBody>
      </p:sp>
      <p:cxnSp>
        <p:nvCxnSpPr>
          <p:cNvPr id="33" name="Straight Arrow Connector 32"/>
          <p:cNvCxnSpPr>
            <a:stCxn id="31" idx="3"/>
            <a:endCxn id="32" idx="1"/>
          </p:cNvCxnSpPr>
          <p:nvPr/>
        </p:nvCxnSpPr>
        <p:spPr>
          <a:xfrm flipV="1">
            <a:off x="8430746" y="1783457"/>
            <a:ext cx="658186" cy="962314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185102" y="4993049"/>
            <a:ext cx="3674269" cy="1307687"/>
          </a:xfrm>
          <a:prstGeom prst="roundRect">
            <a:avLst/>
          </a:prstGeom>
          <a:noFill/>
          <a:ln w="190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9638841" y="5516087"/>
            <a:ext cx="2166210" cy="430887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Used to check LOAD REGULATION &amp; VOUT_ERR</a:t>
            </a:r>
            <a:endParaRPr lang="en-US" sz="1100" dirty="0" smtClean="0"/>
          </a:p>
        </p:txBody>
      </p:sp>
      <p:cxnSp>
        <p:nvCxnSpPr>
          <p:cNvPr id="40" name="Straight Arrow Connector 39"/>
          <p:cNvCxnSpPr>
            <a:stCxn id="38" idx="3"/>
            <a:endCxn id="39" idx="1"/>
          </p:cNvCxnSpPr>
          <p:nvPr/>
        </p:nvCxnSpPr>
        <p:spPr>
          <a:xfrm>
            <a:off x="8859371" y="5646893"/>
            <a:ext cx="779470" cy="84638"/>
          </a:xfrm>
          <a:prstGeom prst="straightConnector1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4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1085233"/>
                  </p:ext>
                </p:extLst>
              </p:nvPr>
            </p:nvGraphicFramePr>
            <p:xfrm>
              <a:off x="116115" y="885088"/>
              <a:ext cx="11612881" cy="53547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412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163216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2438400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6104377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907476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1944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Testbench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Item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Measurement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194476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DCOP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Region 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region_core_nd1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OP("/core_maxload/MND1</a:t>
                          </a:r>
                          <a:r>
                            <a:rPr lang="en-US" sz="1400" dirty="0" smtClean="0"/>
                            <a:t>" "region")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194476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vod_core_nd1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smtClean="0"/>
                            <a:t>abs(OP("/core_maxload/MND1</a:t>
                          </a:r>
                          <a:r>
                            <a:rPr lang="en-US" sz="1400" dirty="0" smtClean="0"/>
                            <a:t>" "</a:t>
                          </a:r>
                          <a:r>
                            <a:rPr lang="en-US" sz="1400" dirty="0" err="1" smtClean="0"/>
                            <a:t>vgt</a:t>
                          </a:r>
                          <a:r>
                            <a:rPr lang="en-US" sz="1400" dirty="0" smtClean="0"/>
                            <a:t>"))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205537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𝑚𝑎𝑟𝑔𝑖𝑛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vmarg_core_nd1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OP("/core_maxload/MND1</a:t>
                          </a:r>
                          <a:r>
                            <a:rPr lang="en-US" sz="1400" dirty="0" smtClean="0"/>
                            <a:t>" "</a:t>
                          </a:r>
                          <a:r>
                            <a:rPr lang="en-US" sz="1400" dirty="0" err="1" smtClean="0"/>
                            <a:t>vsat_marg</a:t>
                          </a:r>
                          <a:r>
                            <a:rPr lang="en-US" sz="1400" dirty="0" smtClean="0"/>
                            <a:t>")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5963978"/>
                      </a:ext>
                    </a:extLst>
                  </a:tr>
                  <a:tr h="377820">
                    <a:tc rowSpan="10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Transient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 row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Line</a:t>
                          </a:r>
                          <a:r>
                            <a:rPr lang="en-US" sz="1400" baseline="0" dirty="0" smtClean="0"/>
                            <a:t> regulation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vout_vinmax_maxload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"/vreg_4")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vout_vinmin_maxload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"/vreg_4")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80021783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LNR_maxload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((abs((</a:t>
                          </a:r>
                          <a:r>
                            <a:rPr lang="en-US" sz="1400" dirty="0" err="1" smtClean="0"/>
                            <a:t>vout_vinmax_maxload</a:t>
                          </a:r>
                          <a:r>
                            <a:rPr lang="en-US" sz="1400" dirty="0" smtClean="0"/>
                            <a:t> - </a:t>
                          </a:r>
                          <a:r>
                            <a:rPr lang="en-US" sz="1400" dirty="0" err="1" smtClean="0"/>
                            <a:t>vout_vinmin_maxload</a:t>
                          </a:r>
                          <a:r>
                            <a:rPr lang="en-US" sz="1400" dirty="0" smtClean="0"/>
                            <a:t>)) / 0.24) * 1000)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65429924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vout_vinmax_minload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3255949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vout_vinmin_minload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1507679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LNR_minload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((abs((</a:t>
                          </a:r>
                          <a:r>
                            <a:rPr lang="en-US" sz="1400" dirty="0" err="1" smtClean="0"/>
                            <a:t>vout_vinmax_minload</a:t>
                          </a:r>
                          <a:r>
                            <a:rPr lang="en-US" sz="1400" dirty="0" smtClean="0"/>
                            <a:t> - </a:t>
                          </a:r>
                          <a:r>
                            <a:rPr lang="en-US" sz="1400" dirty="0" err="1" smtClean="0"/>
                            <a:t>vout_vinmin_minload</a:t>
                          </a:r>
                          <a:r>
                            <a:rPr lang="en-US" sz="1400" dirty="0" smtClean="0"/>
                            <a:t>)) / 0.24) * 1000)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83866385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LNR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max(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LNR_maxload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, 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LNR_minload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1218184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Load regulation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vout_minload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7657098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LDR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((abs((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vout_minload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 - 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vout_maxload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)) / 0.0499) * 1000)</a:t>
                          </a:r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25028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1085233"/>
                  </p:ext>
                </p:extLst>
              </p:nvPr>
            </p:nvGraphicFramePr>
            <p:xfrm>
              <a:off x="116115" y="885088"/>
              <a:ext cx="11612881" cy="53547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412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163216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2438400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6104377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907476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Testbench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Item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Measurement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0480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DCOP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Region 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region_core_nd1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OP("/core_maxload/MND1</a:t>
                          </a:r>
                          <a:r>
                            <a:rPr lang="en-US" sz="1400" dirty="0" smtClean="0"/>
                            <a:t>" "region")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6387" t="-204000" r="-814136" b="-146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vod_core_nd1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smtClean="0"/>
                            <a:t>abs(OP("/core_maxload/MND1</a:t>
                          </a:r>
                          <a:r>
                            <a:rPr lang="en-US" sz="1400" dirty="0" smtClean="0"/>
                            <a:t>" "</a:t>
                          </a:r>
                          <a:r>
                            <a:rPr lang="en-US" sz="1400" dirty="0" err="1" smtClean="0"/>
                            <a:t>vgt</a:t>
                          </a:r>
                          <a:r>
                            <a:rPr lang="en-US" sz="1400" dirty="0" smtClean="0"/>
                            <a:t>"))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204000" r="-2685" b="-146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322136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6387" t="-286792" r="-814136" b="-1279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vmarg_core_nd1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smtClean="0"/>
                            <a:t>OP("/core_maxload/MND1</a:t>
                          </a:r>
                          <a:r>
                            <a:rPr lang="en-US" sz="1400" dirty="0" smtClean="0"/>
                            <a:t>" "</a:t>
                          </a:r>
                          <a:r>
                            <a:rPr lang="en-US" sz="1400" dirty="0" err="1" smtClean="0"/>
                            <a:t>vsat_marg</a:t>
                          </a:r>
                          <a:r>
                            <a:rPr lang="en-US" sz="1400" dirty="0" smtClean="0"/>
                            <a:t>")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286792" r="-2685" b="-1279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5963978"/>
                      </a:ext>
                    </a:extLst>
                  </a:tr>
                  <a:tr h="377820">
                    <a:tc rowSpan="10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Transient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 row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Line</a:t>
                          </a:r>
                          <a:r>
                            <a:rPr lang="en-US" sz="1400" baseline="0" dirty="0" smtClean="0"/>
                            <a:t> regulation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vout_vinmax_maxload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"/vreg_4")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330645" r="-2685" b="-9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vout_vinmin_maxload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"/vreg_4")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430645" r="-2685" b="-8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0021783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LNR_maxload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((abs((</a:t>
                          </a:r>
                          <a:r>
                            <a:rPr lang="en-US" sz="1400" dirty="0" err="1" smtClean="0"/>
                            <a:t>vout_vinmax_maxload</a:t>
                          </a:r>
                          <a:r>
                            <a:rPr lang="en-US" sz="1400" dirty="0" smtClean="0"/>
                            <a:t> - </a:t>
                          </a:r>
                          <a:r>
                            <a:rPr lang="en-US" sz="1400" dirty="0" err="1" smtClean="0"/>
                            <a:t>vout_vinmin_maxload</a:t>
                          </a:r>
                          <a:r>
                            <a:rPr lang="en-US" sz="1400" dirty="0" smtClean="0"/>
                            <a:t>)) / 0.24) * 1000)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530645" r="-2685" b="-7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5429924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vout_vinmax_minload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630645" r="-2685" b="-6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3255949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vout_vinmin_minload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730645" r="-2685" b="-5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507679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LNR_minload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((abs((</a:t>
                          </a:r>
                          <a:r>
                            <a:rPr lang="en-US" sz="1400" dirty="0" err="1" smtClean="0"/>
                            <a:t>vout_vinmax_minload</a:t>
                          </a:r>
                          <a:r>
                            <a:rPr lang="en-US" sz="1400" dirty="0" smtClean="0"/>
                            <a:t> - </a:t>
                          </a:r>
                          <a:r>
                            <a:rPr lang="en-US" sz="1400" dirty="0" err="1" smtClean="0"/>
                            <a:t>vout_vinmin_minload</a:t>
                          </a:r>
                          <a:r>
                            <a:rPr lang="en-US" sz="1400" dirty="0" smtClean="0"/>
                            <a:t>)) / 0.24) * 1000)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830645" r="-2685" b="-4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3866385"/>
                      </a:ext>
                    </a:extLst>
                  </a:tr>
                  <a:tr h="37782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LNR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max(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LNR_maxload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, 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LNR_minload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930645" r="-2685" b="-39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1218184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Load regulation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vout_minload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9.98e-07)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788889" r="-2685" b="-20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err="1" smtClean="0"/>
                            <a:t>vout_maxload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vtime</a:t>
                          </a:r>
                          <a:r>
                            <a:rPr lang="en-US" sz="1400" dirty="0" smtClean="0"/>
                            <a:t>('</a:t>
                          </a:r>
                          <a:r>
                            <a:rPr lang="en-US" sz="1400" dirty="0" err="1" smtClean="0"/>
                            <a:t>tran</a:t>
                          </a:r>
                          <a:r>
                            <a:rPr lang="en-US" sz="1400" dirty="0" smtClean="0"/>
                            <a:t> "/vreg_5") 8e-09)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900000" r="-2685" b="-10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657098"/>
                      </a:ext>
                    </a:extLst>
                  </a:tr>
                  <a:tr h="491166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LDR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((abs((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vout_minload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 - </a:t>
                          </a:r>
                          <a:r>
                            <a:rPr lang="en-US" sz="1400" dirty="0" err="1" smtClean="0">
                              <a:solidFill>
                                <a:srgbClr val="FF0000"/>
                              </a:solidFill>
                            </a:rPr>
                            <a:t>vout_maxload</a:t>
                          </a:r>
                          <a:r>
                            <a:rPr lang="en-US" sz="1400" dirty="0" smtClean="0">
                              <a:solidFill>
                                <a:srgbClr val="FF0000"/>
                              </a:solidFill>
                            </a:rPr>
                            <a:t>)) / 0.0499) * 1000)</a:t>
                          </a:r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79866" t="-987654" r="-2685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25028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6851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404157"/>
                  </p:ext>
                </p:extLst>
              </p:nvPr>
            </p:nvGraphicFramePr>
            <p:xfrm>
              <a:off x="116115" y="885088"/>
              <a:ext cx="11963590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6622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737937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1704398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7840654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753979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1944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Testbench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Item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Measurement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194476">
                    <a:tc row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AC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𝑈𝐺𝐵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UGB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cross(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0 1 "either" nil nil)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𝑀𝐻𝑧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194476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𝐶𝐿𝐺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Av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1)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264474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𝑃𝑀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phaseDegUnwrapped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 cross(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0 1 "either" nil nil))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𝑑𝑒𝑔𝑟𝑒𝑒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264474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𝑃𝑆𝑅𝑅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PSR_10k_maxload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"/vreg_1")) 10000))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  <a:tr h="264474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PSR_1meg_maxload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"/vreg_1")) 1000000))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9285279"/>
                      </a:ext>
                    </a:extLst>
                  </a:tr>
                  <a:tr h="264474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PSR_10k_minload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"/vreg_2")) 10000))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52680708"/>
                      </a:ext>
                    </a:extLst>
                  </a:tr>
                  <a:tr h="264474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PSR_1meg_minload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"/vreg_2")) 1000000))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0024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404157"/>
                  </p:ext>
                </p:extLst>
              </p:nvPr>
            </p:nvGraphicFramePr>
            <p:xfrm>
              <a:off x="116115" y="885088"/>
              <a:ext cx="11963590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6622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737937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1704398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7840654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753979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err="1" smtClean="0"/>
                            <a:t>Testbench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Item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Parameter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Measurement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Unit</a:t>
                          </a:r>
                          <a:endParaRPr lang="en-US" sz="1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04800">
                    <a:tc rowSpan="7"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AC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446" t="-104000" r="-1400000" b="-6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UGB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cross(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0 1 "either" nil nil)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104000" r="-3226" b="-6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446" t="-204000" r="-1400000" b="-5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Av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1)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204000" r="-3226" b="-59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446" t="-176744" r="-1400000" b="-244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PM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value(</a:t>
                          </a:r>
                          <a:r>
                            <a:rPr lang="en-US" sz="1400" dirty="0" err="1" smtClean="0"/>
                            <a:t>phaseDegUnwrapped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 cross(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(mag(</a:t>
                          </a:r>
                          <a:r>
                            <a:rPr lang="en-US" sz="1400" dirty="0" err="1" smtClean="0"/>
                            <a:t>getData</a:t>
                          </a:r>
                          <a:r>
                            <a:rPr lang="en-US" sz="1400" dirty="0" smtClean="0"/>
                            <a:t>("</a:t>
                          </a:r>
                          <a:r>
                            <a:rPr lang="en-US" sz="1400" dirty="0" err="1" smtClean="0"/>
                            <a:t>loopGain</a:t>
                          </a:r>
                          <a:r>
                            <a:rPr lang="en-US" sz="1400" dirty="0" smtClean="0"/>
                            <a:t>" ?result "</a:t>
                          </a:r>
                          <a:r>
                            <a:rPr lang="en-US" sz="1400" dirty="0" err="1" smtClean="0"/>
                            <a:t>stb</a:t>
                          </a:r>
                          <a:r>
                            <a:rPr lang="en-US" sz="1400" dirty="0" smtClean="0"/>
                            <a:t>"))) 0 1 "either" nil nil))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176744" r="-3226" b="-2441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446" t="-119000" r="-14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PSR_10k_maxload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"/vreg_1")) 10000))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476000" r="-3226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PSR_1meg_maxload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"/vreg_1")) 1000000))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576000" r="-3226" b="-2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928527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PSR_10k_minload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</a:t>
                          </a:r>
                          <a:r>
                            <a:rPr lang="en-US" sz="1400" dirty="0" smtClean="0"/>
                            <a:t>vreg_2")) </a:t>
                          </a:r>
                          <a:r>
                            <a:rPr lang="en-US" sz="1400" dirty="0" smtClean="0"/>
                            <a:t>10000))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676000" r="-3226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2680708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 smtClean="0"/>
                            <a:t>PSR_1meg_minload</a:t>
                          </a:r>
                          <a:endParaRPr lang="en-US" sz="1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abs(value(</a:t>
                          </a:r>
                          <a:r>
                            <a:rPr lang="en-US" sz="1400" dirty="0" err="1" smtClean="0"/>
                            <a:t>db</a:t>
                          </a:r>
                          <a:r>
                            <a:rPr lang="en-US" sz="1400" dirty="0" smtClean="0"/>
                            <a:t>(</a:t>
                          </a:r>
                          <a:r>
                            <a:rPr lang="en-US" sz="1400" dirty="0" err="1" smtClean="0"/>
                            <a:t>vfreq</a:t>
                          </a:r>
                          <a:r>
                            <a:rPr lang="en-US" sz="1400" dirty="0" smtClean="0"/>
                            <a:t>('ac "/</a:t>
                          </a:r>
                          <a:r>
                            <a:rPr lang="en-US" sz="1400" dirty="0" smtClean="0"/>
                            <a:t>vreg_2")) </a:t>
                          </a:r>
                          <a:r>
                            <a:rPr lang="en-US" sz="1400" dirty="0" smtClean="0"/>
                            <a:t>1000000))</a:t>
                          </a:r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83871" t="-776000" r="-3226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0024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06" y="4126829"/>
            <a:ext cx="11713808" cy="7258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1006" y="3812875"/>
            <a:ext cx="137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6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045" y="198408"/>
            <a:ext cx="11688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Core </a:t>
            </a:r>
            <a:r>
              <a:rPr lang="en-US" sz="4000" dirty="0" smtClean="0"/>
              <a:t>- </a:t>
            </a:r>
            <a:r>
              <a:rPr lang="en-US" sz="4000" dirty="0" err="1" smtClean="0"/>
              <a:t>testbench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09" y="906294"/>
            <a:ext cx="2493034" cy="29646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472" y="906294"/>
            <a:ext cx="2289808" cy="40757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409" y="906294"/>
            <a:ext cx="3321844" cy="37441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382" y="906294"/>
            <a:ext cx="2740546" cy="49170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8521" y="4054415"/>
            <a:ext cx="1552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DCOP analysis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354999" y="5011430"/>
            <a:ext cx="1552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 analysis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952227" y="4650475"/>
            <a:ext cx="210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TRANSIENT analysis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392244" y="5823352"/>
            <a:ext cx="210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STB analysis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309" y="5609251"/>
            <a:ext cx="2762636" cy="10288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24943" y="5982878"/>
            <a:ext cx="417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 Execute these analyses in parallel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69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4265498"/>
                  </p:ext>
                </p:extLst>
              </p:nvPr>
            </p:nvGraphicFramePr>
            <p:xfrm>
              <a:off x="1055296" y="885086"/>
              <a:ext cx="10650748" cy="56824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225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802863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3963011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2437854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1043795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809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Overdrive voltage (</a:t>
                          </a:r>
                          <a:r>
                            <a:rPr lang="en-US" dirty="0" err="1" smtClean="0"/>
                            <a:t>Vgs</a:t>
                          </a:r>
                          <a:r>
                            <a:rPr lang="en-US" dirty="0" smtClean="0"/>
                            <a:t> – Vth)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≥−100</m:t>
                              </m:r>
                            </m:oMath>
                          </a14:m>
                          <a:r>
                            <a:rPr lang="en-US" dirty="0" smtClean="0"/>
                            <a:t> for all </a:t>
                          </a:r>
                          <a:r>
                            <a:rPr lang="en-US" dirty="0" err="1" smtClean="0"/>
                            <a:t>mosfet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380907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𝑚𝑎𝑟𝑔𝑖𝑛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Margin</a:t>
                          </a:r>
                          <a:r>
                            <a:rPr lang="en-US" baseline="0" dirty="0" smtClean="0"/>
                            <a:t> voltage (</a:t>
                          </a:r>
                          <a:r>
                            <a:rPr lang="en-US" baseline="0" dirty="0" err="1" smtClean="0"/>
                            <a:t>Vds-Vdsat</a:t>
                          </a:r>
                          <a:r>
                            <a:rPr lang="en-US" baseline="0" dirty="0" smtClean="0"/>
                            <a:t>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dirty="0" smtClean="0"/>
                            <a:t> for all </a:t>
                          </a:r>
                          <a:r>
                            <a:rPr lang="en-US" dirty="0" err="1" smtClean="0"/>
                            <a:t>mosfet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380907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Transient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𝑒𝑟𝑟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Output voltage error (max load)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9218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𝐿𝑁𝑅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Line regulation,</a:t>
                          </a:r>
                          <a:r>
                            <a:rPr lang="en-US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10%</m:t>
                              </m:r>
                            </m:oMath>
                          </a14:m>
                          <a:r>
                            <a:rPr lang="en-US" dirty="0" smtClean="0"/>
                            <a:t> variation of Vin</a:t>
                          </a:r>
                        </a:p>
                        <a:p>
                          <a:pPr algn="ctr"/>
                          <a:r>
                            <a:rPr lang="en-US" dirty="0" smtClean="0"/>
                            <a:t>(min</a:t>
                          </a:r>
                          <a:r>
                            <a:rPr lang="en-US" baseline="0" dirty="0" smtClean="0"/>
                            <a:t> &amp; max load)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119841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𝐿𝐷𝑅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Load regulation, </a:t>
                          </a:r>
                          <a:r>
                            <a:rPr lang="en-US" dirty="0" err="1" smtClean="0"/>
                            <a:t>iload</a:t>
                          </a:r>
                          <a:r>
                            <a:rPr lang="en-US" dirty="0" smtClean="0"/>
                            <a:t> varies from max</a:t>
                          </a:r>
                          <a:r>
                            <a:rPr lang="en-US" baseline="0" dirty="0" smtClean="0"/>
                            <a:t> to min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≤80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𝑚𝑉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373865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𝑈𝐺𝐵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Unity</a:t>
                          </a:r>
                          <a:r>
                            <a:rPr lang="en-US" baseline="0" dirty="0" smtClean="0"/>
                            <a:t> Gain </a:t>
                          </a:r>
                          <a:r>
                            <a:rPr lang="en-US" baseline="0" dirty="0" err="1" smtClean="0"/>
                            <a:t>Bw</a:t>
                          </a:r>
                          <a:endParaRPr 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𝑀𝐻𝑧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7386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𝐶𝐿𝐺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DC Loop Gain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𝑃𝑀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Phase Margin of loop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𝑑𝑒𝑔𝑟𝑒𝑒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𝑃𝑆𝑅𝑅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Power Supply Rejected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≥50 @ 10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𝑘𝐻𝑧</m:t>
                                </m:r>
                              </m:oMath>
                            </m:oMathPara>
                          </a14:m>
                          <a:r>
                            <a:rPr lang="en-US" b="0" dirty="0" smtClean="0">
                              <a:ea typeface="Cambria Math" panose="02040503050406030204" pitchFamily="18" charset="0"/>
                            </a:rPr>
                            <a:t/>
                          </a:r>
                          <a:br>
                            <a:rPr lang="en-US" b="0" dirty="0" smtClean="0">
                              <a:ea typeface="Cambria Math" panose="020405030504060302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30 @ 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𝑀𝐻𝑧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4265498"/>
                  </p:ext>
                </p:extLst>
              </p:nvPr>
            </p:nvGraphicFramePr>
            <p:xfrm>
              <a:off x="1055296" y="885086"/>
              <a:ext cx="10650748" cy="568240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225">
                      <a:extLst>
                        <a:ext uri="{9D8B030D-6E8A-4147-A177-3AD203B41FA5}">
                          <a16:colId xmlns:a16="http://schemas.microsoft.com/office/drawing/2014/main" val="3538683645"/>
                        </a:ext>
                      </a:extLst>
                    </a:gridCol>
                    <a:gridCol w="1802863">
                      <a:extLst>
                        <a:ext uri="{9D8B030D-6E8A-4147-A177-3AD203B41FA5}">
                          <a16:colId xmlns:a16="http://schemas.microsoft.com/office/drawing/2014/main" val="3837754799"/>
                        </a:ext>
                      </a:extLst>
                    </a:gridCol>
                    <a:gridCol w="3963011">
                      <a:extLst>
                        <a:ext uri="{9D8B030D-6E8A-4147-A177-3AD203B41FA5}">
                          <a16:colId xmlns:a16="http://schemas.microsoft.com/office/drawing/2014/main" val="315437785"/>
                        </a:ext>
                      </a:extLst>
                    </a:gridCol>
                    <a:gridCol w="2437854">
                      <a:extLst>
                        <a:ext uri="{9D8B030D-6E8A-4147-A177-3AD203B41FA5}">
                          <a16:colId xmlns:a16="http://schemas.microsoft.com/office/drawing/2014/main" val="209280774"/>
                        </a:ext>
                      </a:extLst>
                    </a:gridCol>
                    <a:gridCol w="1043795">
                      <a:extLst>
                        <a:ext uri="{9D8B030D-6E8A-4147-A177-3AD203B41FA5}">
                          <a16:colId xmlns:a16="http://schemas.microsoft.com/office/drawing/2014/main" val="886128881"/>
                        </a:ext>
                      </a:extLst>
                    </a:gridCol>
                  </a:tblGrid>
                  <a:tr h="3738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Testbench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Parameter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Description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Specification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Unit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2561122"/>
                      </a:ext>
                    </a:extLst>
                  </a:tr>
                  <a:tr h="38090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104762" r="-414189" b="-12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Overdrive voltage (</a:t>
                          </a:r>
                          <a:r>
                            <a:rPr lang="en-US" dirty="0" err="1" smtClean="0"/>
                            <a:t>Vgs</a:t>
                          </a:r>
                          <a:r>
                            <a:rPr lang="en-US" dirty="0" smtClean="0"/>
                            <a:t> – Vth)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104762" r="-43750" b="-1287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104762" r="-2339" b="-1287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9882009"/>
                      </a:ext>
                    </a:extLst>
                  </a:tr>
                  <a:tr h="388112">
                    <a:tc v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201563" r="-414189" b="-11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Margin</a:t>
                          </a:r>
                          <a:r>
                            <a:rPr lang="en-US" baseline="0" dirty="0" smtClean="0"/>
                            <a:t> voltage (</a:t>
                          </a:r>
                          <a:r>
                            <a:rPr lang="en-US" baseline="0" dirty="0" err="1" smtClean="0"/>
                            <a:t>Vds-Vdsat</a:t>
                          </a:r>
                          <a:r>
                            <a:rPr lang="en-US" baseline="0" dirty="0" smtClean="0"/>
                            <a:t>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201563" r="-43750" b="-116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201563" r="-2339" b="-116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4423459"/>
                      </a:ext>
                    </a:extLst>
                  </a:tr>
                  <a:tr h="380907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Transient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311290" r="-414189" b="-1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Output voltage error (max </a:t>
                          </a:r>
                          <a:r>
                            <a:rPr lang="en-US" dirty="0" smtClean="0"/>
                            <a:t>load</a:t>
                          </a:r>
                          <a:r>
                            <a:rPr lang="en-US" dirty="0" smtClean="0"/>
                            <a:t>)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311290" r="-43750" b="-1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311290" r="-2339" b="-11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0420250"/>
                      </a:ext>
                    </a:extLst>
                  </a:tr>
                  <a:tr h="92186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167763" r="-414189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952" t="-167763" r="-88326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167763" r="-43750" b="-35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167763" r="-2339" b="-3506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36090"/>
                      </a:ext>
                    </a:extLst>
                  </a:tr>
                  <a:tr h="119841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207653" r="-414189" b="-171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Load regulation, </a:t>
                          </a:r>
                          <a:r>
                            <a:rPr lang="en-US" dirty="0" err="1" smtClean="0"/>
                            <a:t>iload</a:t>
                          </a:r>
                          <a:r>
                            <a:rPr lang="en-US" dirty="0" smtClean="0"/>
                            <a:t> varies from max</a:t>
                          </a:r>
                          <a:r>
                            <a:rPr lang="en-US" baseline="0" dirty="0" smtClean="0"/>
                            <a:t> to min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207653" r="-43750" b="-171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207653" r="-2339" b="-171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7636859"/>
                      </a:ext>
                    </a:extLst>
                  </a:tr>
                  <a:tr h="373865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972581" r="-414189" b="-44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Unity</a:t>
                          </a:r>
                          <a:r>
                            <a:rPr lang="en-US" baseline="0" dirty="0" smtClean="0"/>
                            <a:t> Gain </a:t>
                          </a:r>
                          <a:r>
                            <a:rPr lang="en-US" baseline="0" dirty="0" err="1" smtClean="0"/>
                            <a:t>Bw</a:t>
                          </a:r>
                          <a:endParaRPr lang="en-US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972581" r="-43750" b="-44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972581" r="-2339" b="-44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1975369"/>
                      </a:ext>
                    </a:extLst>
                  </a:tr>
                  <a:tr h="373865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1090164" r="-414189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DC Loop Gain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1090164" r="-43750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1090164" r="-2339" b="-3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1914876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684906" r="-414189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Phase Margin of loop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684906" r="-43750" b="-1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684906" r="-2339" b="-10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8121002"/>
                      </a:ext>
                    </a:extLst>
                  </a:tr>
                  <a:tr h="645302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41" t="-784906" r="-414189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Power Supply Rejected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4500" t="-784906" r="-43750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22807" t="-784906" r="-2339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46061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4102099" y="120050"/>
            <a:ext cx="4403726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Core Specification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5311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02099" y="120050"/>
            <a:ext cx="4403726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Core Specification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61386" y="1319614"/>
                <a:ext cx="10197678" cy="4022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 smtClean="0"/>
                  <a:t>After pass all the requirement (DCOP, Trans, AC)</a:t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𝐹𝑂𝑀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𝑚𝑉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𝑚𝑉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𝑃𝑆𝑅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@1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𝑀𝐻𝑧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𝑭𝑶𝑴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𝒔𝒎𝒂𝒍𝒍𝒆𝒓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𝒃𝒆𝒕𝒕𝒆𝒓</m:t>
                      </m:r>
                    </m:oMath>
                  </m:oMathPara>
                </a14:m>
                <a:endParaRPr lang="en-US" b="1" dirty="0" smtClean="0"/>
              </a:p>
              <a:p>
                <a:r>
                  <a:rPr lang="en-US" b="1" dirty="0" smtClean="0"/>
                  <a:t>Note: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𝒗𝒐𝒖𝒕</m:t>
                    </m:r>
                    <m:r>
                      <m:rPr>
                        <m:lit/>
                      </m:rPr>
                      <a:rPr lang="en-US" b="1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𝒆𝒓𝒓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𝒐𝒖𝒕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𝟖𝟎𝟎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𝒎𝑽</m:t>
                    </m:r>
                  </m:oMath>
                </a14:m>
                <a:endParaRPr lang="en-US" b="1" dirty="0" smtClean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𝑖𝑠𝑢𝑏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𝑉𝑖𝑛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𝑎𝑛𝑎𝑙𝑦𝑠𝑖𝑠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𝑀𝐴𝑋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𝐿𝑂𝐴𝐷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𝑣𝑒𝑟𝑖𝑓𝑖𝑐𝑎𝑡𝑖𝑜𝑛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)→</m:t>
                    </m:r>
                  </m:oMath>
                </a14:m>
                <a:r>
                  <a:rPr lang="en-US" dirty="0" smtClean="0"/>
                  <a:t>total current consumption of LDO;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𝒍𝒐𝒂𝒅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𝟎𝟎𝟎𝟎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endParaRPr lang="en-US" b="1" dirty="0" smtClean="0"/>
              </a:p>
              <a:p>
                <a:pPr marL="285750" indent="-285750">
                  <a:buFontTx/>
                  <a:buChar char="-"/>
                </a:pPr>
                <a:r>
                  <a:rPr lang="en-US" dirty="0" smtClean="0"/>
                  <a:t>PSR@1MHz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abs value of PSR at f=1MHz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in db</a:t>
                </a:r>
                <a:r>
                  <a:rPr lang="en-US" dirty="0" smtClean="0"/>
                  <a:t>.</a:t>
                </a:r>
              </a:p>
              <a:p>
                <a:pPr marL="285750" indent="-285750">
                  <a:buFontTx/>
                  <a:buChar char="-"/>
                </a:pPr>
                <a:endParaRPr lang="en-US" b="1" dirty="0"/>
              </a:p>
              <a:p>
                <a:r>
                  <a:rPr lang="en-US" b="1" dirty="0" smtClean="0"/>
                  <a:t>Example: </a:t>
                </a:r>
              </a:p>
              <a:p>
                <a:pPr/>
                <a:r>
                  <a:rPr lang="en-US" dirty="0" smtClean="0"/>
                  <a:t>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𝑣𝑜𝑢𝑡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𝑒𝑟𝑟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=49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𝑃𝑆𝑅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@1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𝑀𝐻𝑧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𝐹𝑂𝑀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83.75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86" y="1319614"/>
                <a:ext cx="10197678" cy="4022640"/>
              </a:xfrm>
              <a:prstGeom prst="rect">
                <a:avLst/>
              </a:prstGeom>
              <a:blipFill>
                <a:blip r:embed="rId2"/>
                <a:stretch>
                  <a:fillRect l="-478" t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402128" y="3745103"/>
            <a:ext cx="97235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UPDATE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60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1654</TotalTime>
  <Words>1440</Words>
  <Application>Microsoft Office PowerPoint</Application>
  <PresentationFormat>Widescreen</PresentationFormat>
  <Paragraphs>483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Lê Thị Thùy Trang</dc:creator>
  <cp:lastModifiedBy>Lê Thị Thùy Trang</cp:lastModifiedBy>
  <cp:revision>93</cp:revision>
  <dcterms:created xsi:type="dcterms:W3CDTF">2026-02-03T23:38:43Z</dcterms:created>
  <dcterms:modified xsi:type="dcterms:W3CDTF">2026-04-12T05:10:42Z</dcterms:modified>
</cp:coreProperties>
</file>